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9" r:id="rId28"/>
    <p:sldId id="280" r:id="rId29"/>
    <p:sldId id="281" r:id="rId30"/>
    <p:sldId id="282" r:id="rId31"/>
    <p:sldId id="270" r:id="rId19"/>
    <p:sldId id="271" r:id="rId20"/>
    <p:sldId id="272" r:id="rId21"/>
    <p:sldId id="283" r:id="rId32"/>
    <p:sldId id="284" r:id="rId33"/>
    <p:sldId id="273" r:id="rId22"/>
    <p:sldId id="285" r:id="rId34"/>
    <p:sldId id="286" r:id="rId35"/>
    <p:sldId id="274" r:id="rId23"/>
    <p:sldId id="275" r:id="rId24"/>
    <p:sldId id="276" r:id="rId25"/>
    <p:sldId id="277" r:id="rId26"/>
    <p:sldId id="278" r:id="rId27"/>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slide" Target="slides/slide27.xml"/><Relationship Id="rId32" Type="http://schemas.openxmlformats.org/officeDocument/2006/relationships/slide" Target="slides/slide28.xml"/><Relationship Id="rId33" Type="http://schemas.openxmlformats.org/officeDocument/2006/relationships/slide" Target="slides/slide29.xml"/><Relationship Id="rId34" Type="http://schemas.openxmlformats.org/officeDocument/2006/relationships/slide" Target="slides/slide30.xml"/><Relationship Id="rId35"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Title. scPTR makes mRNA DEGRADATION a measurable, per-cell axis of single-cell analysis - something no existing method does. RNA velocity gave us the synthesis side; we recover the other half of the equation, from the same standard scRNA-seq data. Over the next ~10 minutes: the blind spot, our estimator, and three biological findings it unlocks.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 name="Shape 19"/>
        <p:cNvGrpSpPr/>
        <p:nvPr/>
      </p:nvGrpSpPr>
      <p:grpSpPr>
        <a:xfrm>
          <a:off x="0" y="0"/>
          <a:ext cx="0" cy="0"/>
          <a:chOff x="0" y="0"/>
          <a:chExt cx="0" cy="0"/>
        </a:xfrm>
      </p:grpSpPr>
      <p:sp>
        <p:nvSpPr>
          <p:cNvPr id="20" name="Google Shape;20;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 name="Google Shape;21;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Steady-state mRNA abundance is a balance: synthesis minus degradation. The field has poured effort into synthesis - RNA velocity infers the transcription/splicing dynamics (beta) from unspliced-to-spliced ratios. But gamma, the degradation rate - governed by RNA-binding proteins, microRNAs, and 3-prime UTR elements - has been invisible (shown dashed). And it is not a minor term: half-lives vary about a hundred-fold and change fast during transitions. Two cells with identical spliced counts can be in completely different degradation regimes.</a:t>
            </a:r>
            <a:endParaRPr/>
          </a:p>
        </p:txBody>
      </p:sp>
      <p:sp>
        <p:nvSpPr>
          <p:cNvPr id="22" name="Google Shape;22;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 name="Google Shape;3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set the stage. Left: real measured half-lives from SLAM-seq, about 27,000 genes - they vary roughly a hundred-fold, median around 5 hours. Degradation is a first-order term in setting abundance. Right, the conceptual consequence: two cells with the exact same spliced counts - identical in expression space - can be in opposite degradation regimes, one actively degrading a transcript, the other stabilizing it. Expression analysis is blind to that difference. scPTR makes that hidden axis visible.</a:t>
            </a:r>
            <a:endParaRPr/>
          </a:p>
        </p:txBody>
      </p:sp>
      <p:sp>
        <p:nvSpPr>
          <p:cNvPr id="39" name="Google Shape;3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 name="Google Shape;4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omission matters for three concrete reasons. One: hidden heterogeneity - identical transcript abundance can mask opposite decay states, and that is exactly where cells commit to a fate. Two: temporal ordering - whether degradation changes lead or lag expression, which you cannot ask without per-cell gamma. Three: disease - cancer often works by stabilizing normally short-lived transcripts, so the relevant readout is decay, not abundance.</a:t>
            </a:r>
            <a:endParaRPr/>
          </a:p>
        </p:txBody>
      </p:sp>
      <p:sp>
        <p:nvSpPr>
          <p:cNvPr id="46" name="Google Shape;4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 name="Google Shape;6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move is to make gamma a first-class, per-cell observable. The physics gives us a handle: at steady state the two-state kinetic model collapses to a simple identity - gamma times spliced equals beta times unspliced - so per-cell gamma is just beta times the u-over-s ratio. The catch is sparsity: unspliced counts are 5 to 15 percent of spliced, so the raw per-cell ratio is dominated by noise. That is why everyone else collapses gamma to one number per gene. Solving the noise problem at single-cell resolution is the technical contribution.</a:t>
            </a:r>
            <a:endParaRPr/>
          </a:p>
        </p:txBody>
      </p:sp>
      <p:sp>
        <p:nvSpPr>
          <p:cNvPr id="64" name="Google Shape;6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4" name="Google Shape;74;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whole system on one slide. Raw spliced and unspliced counts go through preprocessing - gene and cell filtering, per-layer library-size normalization, a kNN graph and adaptive Gaussian smoothing. Then beta is estimated per gene by quantile regression on the u/s phase portrait, and gamma is read out per cell per gene as beta times smoothed-u over smoothed-s, giving the degradation matrix Gamma-hat. That matrix is the substrate for four downstream read-outs: a per-gene variance decomposition into transcriptional vs post-transcriptional fractions, post-transcriptional STATES by Leiden clustering in gamma-space, post-transcriptional VELOCITY as a gamma gradient field, and library-size-corrected RBP-target network inference. It is a modular scanpy-style API - pp for preprocessing, tl for tools.</a:t>
            </a:r>
            <a:endParaRPr/>
          </a:p>
        </p:txBody>
      </p:sp>
      <p:sp>
        <p:nvSpPr>
          <p:cNvPr id="75" name="Google Shape;75;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5" name="Google Shape;10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estimator has two steps. First, beta per gene: instead of an OLS slope - which the huge zero mass corrupts - we use a 95th-percentile quantile regression through the origin, selecting cells on the kinetic ceiling, near steady state. Second, we denoise the u-over-s ratio by kNN-smoothing u and s over each cell's expression neighborhood, with an ADAPTIVE bandwidth - critical because cell density varies 10 to 100-fold. Multiply through and you get per-cell gamma. Cheap - CPU only, about 90 seconds for a hundred thousand cells.</a:t>
            </a:r>
            <a:endParaRPr/>
          </a:p>
        </p:txBody>
      </p:sp>
      <p:sp>
        <p:nvSpPr>
          <p:cNvPr id="106" name="Google Shape;10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3" name="Google Shape;12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quick look at the raw estimates confirms they behave. Left: the per-gene splicing rate beta spans a broad range across 11,454 genes, median near 1.9. Middle: a single-gene phase portrait shows the quantile-regression fit sitting on the kinetic ceiling. Right - and this is the point - the per-cell degradation rate gamma is small in absolute terms but clearly STRUCTURED across pancreatic cell types: alpha, beta, delta, ductal, epsilon and the Ngn3 endocrine progenitors each have distinct gamma distributions. Degradation is not uniform noise; it carries cell-type identity.</a:t>
            </a:r>
            <a:endParaRPr/>
          </a:p>
        </p:txBody>
      </p:sp>
      <p:sp>
        <p:nvSpPr>
          <p:cNvPr id="124" name="Google Shape;12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f386de0fcd_1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2" name="Google Shape;132;g3f386de0fcd_1_1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Here is the whole system on one slide. Raw spliced and unspliced counts go through preprocessing - gene and cell filtering, per-layer library-size normalization, a kNN graph and adaptive Gaussian smoothing. Then beta is estimated per gene by quantile regression on the u/s phase portrait, and gamma is read out per cell per gene as beta times smoothed-u over smoothed-s, giving the degradation matrix Gamma-hat. That matrix is the substrate for four downstream read-outs: a per-gene variance decomposition into transcriptional vs post-transcriptional fractions, post-transcriptional STATES by Leiden clustering in gamma-space, post-transcriptional VELOCITY as a gamma gradient field, and library-size-corrected RBP-target network inference. It is a modular scanpy-style API - pp for preprocessing, tl for tools.</a:t>
            </a:r>
            <a:endParaRPr/>
          </a:p>
        </p:txBody>
      </p:sp>
      <p:sp>
        <p:nvSpPr>
          <p:cNvPr id="133" name="Google Shape;133;g3f386de0fcd_1_1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scPTR has two engines that share one kinetic identity - at steady state, gamma times spliced equals beta times unspliced. The analytic estimator is deterministic and cheap: quantile-regression beta, adaptive kNN smoothing, a point estimate of the degradation matrix, and it drives all the downstream analyses in seconds on a CPU. DeepPTR is the generative counterpart: a structured negative-binomial VAE with disentangled transcription and degradation latents, a kinetic decoder that enforces the same identity, and calibrated posterior uncertainty on gamma - and it warm-starts beta from the analytic estimate. Use the analytic route for speed, DeepPTR when you want uncertainty or a probabilistic latent. I will show the architecture of both.</a:t>
            </a:r>
            <a:endParaRPr/>
          </a:p>
        </p:txBody>
      </p:sp>
      <p:sp>
        <p:nvSpPr>
          <p:cNvPr id="141" name="Google Shape;141;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6" name="Google Shape;15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validation: do the gamma estimates mean anything? We compare per-gene median gamma against independently measured half-lives from metabolic labeling. Correlation is strongly negative, as it should be - high gamma means fast decay, short half-life. On sci-fate, the cleanest 4sU ground truth, we hit minus 0.81, versus minus 0.37 for scVelo, minus 0.33 UniTVelo, minus 0.28 velVI. scPTR strictly dominates on all three references, by the largest margin where the ground truth is best.</a:t>
            </a:r>
            <a:endParaRPr/>
          </a:p>
        </p:txBody>
      </p:sp>
      <p:sp>
        <p:nvSpPr>
          <p:cNvPr id="157" name="Google Shape;15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9" name="Google Shape;17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Second validation is orthogonal - does gamma line up with the known biology of mRNA stability? Yes, three ways. microRNA targets are enriched among high-gamma, fast-decaying genes: 126 of 215 TargetScan families significant, aggregate p of 4.7 times ten-to-the-minus-65. The leading families - miR-124, miR-138 and others - are known drivers of differentiation, so this is not a length or abundance artifact. And gamma correlates with 3-prime UTR length and AU content, both established destabilizing features.</a:t>
            </a:r>
            <a:endParaRPr/>
          </a:p>
        </p:txBody>
      </p:sp>
      <p:sp>
        <p:nvSpPr>
          <p:cNvPr id="180" name="Google Shape;180;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8" name="Google Shape;18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big-picture result that motivates the whole framework. Using gamma, we can decompose each gene's variance into a transcriptional fraction and a post-transcriptional fraction. The distribution on the left is striking: it piles up near zero - the median transcriptional fraction is under two percent - meaning that for 9,069 genes, post-transcriptional control dominates the variance. The middle panel shows TF and PTF are complementary by construction, and the right lists the most PTF-dominated genes. The takeaway: for most of the transcriptome, degradation - not transcription - is where the variance lives, which is exactly the axis scPTR makes visible.</a:t>
            </a:r>
            <a:endParaRPr/>
          </a:p>
        </p:txBody>
      </p:sp>
      <p:sp>
        <p:nvSpPr>
          <p:cNvPr id="189" name="Google Shape;18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6" name="Google Shape;196;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Finding one: hidden states. When we cluster cells in gamma-space instead of expression-space, we find post-transcriptional substructure in 3 of 8 pancreatic and 6 of 11 hippocampal cell types. The clearest case is pancreatic Epsilon cells - a single blob in expression, silhouette near zero, but they split cleanly in gamma-space, silhouette 0.215. Not an artifact: a permutation control gives adjusted Rand index near zero. And the high-gamma substates are enriched for ER-stress and autophagy, fitting the secretory load of endocrine cells.</a:t>
            </a:r>
            <a:endParaRPr/>
          </a:p>
        </p:txBody>
      </p:sp>
      <p:sp>
        <p:nvSpPr>
          <p:cNvPr id="197" name="Google Shape;197;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3f39497f2f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3f39497f2f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g3f39497f2f6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f39497f2f6_0_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f39497f2f6_0_7: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1" name="Google Shape;211;g3f39497f2f6_0_7: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6" name="Google Shape;216;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Finding two: temporal precedence. We define a post-transcriptional velocity - the local shift in gamma across each cell's neighborhood, a vector field analogous to RNA velocity. Two results. First, it is approximately orthogonal to RNA velocity, cosine about 0.04 - genuinely new information. Second, aligning to pseudotime, the gamma trajectory LEADS the expression trajectory for 54 percent of pancreatic transition genes, 78 percent in dentate gyrus, 61 percent in the A549 human time-series. Degradation rewiring is an early commitment signal.</a:t>
            </a:r>
            <a:endParaRPr/>
          </a:p>
        </p:txBody>
      </p:sp>
      <p:sp>
        <p:nvSpPr>
          <p:cNvPr id="217" name="Google Shape;217;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5" name="Google Shape;225;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Finding three: regulatory networks. From per-cell gamma we infer RBP-to-target networks. The subtlety is that sequencing depth confounds the u/s ratio, so naive inference gives an absurd 99.4-percent-destabilising network. Our two-step library-size correction fixes this - dropping about 12,000 spurious edges. The recovered hubs - HNRNPA1, YBX1, HuR, SRSF3 - significantly overlap DepMap CRISPR essentials. And applied to neuroblastoma the landscape flips to 66 percent STABILIZING - the classic oncogenic regime - with a MYCN-driven subpopulation up at 81 percent.</a:t>
            </a:r>
            <a:endParaRPr/>
          </a:p>
        </p:txBody>
      </p:sp>
      <p:sp>
        <p:nvSpPr>
          <p:cNvPr id="226" name="Google Shape;226;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4" name="Google Shape;234;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DeepPTR - a generative counterpart. A negative-binomial VAE, but with a kinetic decoder that splits the latent into a transcriptional block and a post-transcriptional block. The trick: the unspliced mean is not predicted freely - it is DETERMINED by the spliced mean and z-PT through the same kinetic identity. That hard constraint makes z-PT identifiable as the degradation axis. The ablation: accuracy on half-lives is matched across variants, all within 0.02 - but replace the kinetic decoder with a free MLP, or merge the latents, and z-PT stability collapses from 0.94 to 0.3-0.4. The value is not accuracy, it is identifiability under noise.</a:t>
            </a:r>
            <a:endParaRPr/>
          </a:p>
        </p:txBody>
      </p:sp>
      <p:sp>
        <p:nvSpPr>
          <p:cNvPr id="235" name="Google Shape;235;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Under the hood. The encoder is an amortized inference network - 3 hidden layers of 128 units with LayerNorm, ReLU and dropout - that takes the concatenated log1p spliced and unspliced counts and outputs two independent Gaussian posteriors: z_T for transcription and z_PT for post-transcription, ten dimensions each. The kinetic decoder is where the physics lives: z_T maps through a softplus MLP to a per-gene transcription rate alpha, z_PT maps to the degradation rate gamma, and beta is a per-gene parameter - warm-started from our analytic estimate. Expected proportions are alpha over beta for unspliced and alpha over gamma for spliced, normalized across genes and scaled by library size, then read out through negative-binomial likelihoods. The key point: degradation enters the spliced mean ONLY through z_PT to gamma. The unspliced mean is not an unconstrained decoder - it is tied by the same kinetic identity - which is exactly what pins z_PT to the degradation axis.</a:t>
            </a:r>
            <a:endParaRPr/>
          </a:p>
        </p:txBody>
      </p:sp>
      <p:sp>
        <p:nvSpPr>
          <p:cNvPr id="266" name="Google Shape;266;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g3f386de0fcd_1_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94" name="Google Shape;294;g3f386de0fcd_1_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5" name="Google Shape;295;g3f386de0fcd_1_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0" name="Google Shape;30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put it together and look forward. The recap: gamma correlates minus 0.81 with sci-fate half-lives and minus 0.40 on developmental data; we discover 9 hidden post-transcriptional states in pancreas; 54 to 78 percent of transition genes show gamma leading expression; miRNA enrichment at p equals 4.7 times ten-to-the-minus-65; and the estimates are robust, r above 0.97 at 20 percent subsampling. Where this goes next: first, relaxing the steady-state assumption by coupling our adaptive smoothing with dynamical EM; second, replacing the uniform RBP prior with eCLIP-derived binding scores to sharpen network edges; and third, spatial transcriptomics, where per-cell degradation gradients across tumour-immune interfaces are exactly the regime this method is built for.</a:t>
            </a:r>
            <a:endParaRPr/>
          </a:p>
        </p:txBody>
      </p:sp>
      <p:sp>
        <p:nvSpPr>
          <p:cNvPr id="301" name="Google Shape;30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9" name="Google Shape;309;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wrap up: scPTR makes mRNA degradation a measurable, per-cell axis from standard scRNA-seq. It is biophysically grounded and runs on a CPU in seconds. It beats every velocity baseline on every half-life benchmark, and unlocks three things expression cannot see - hidden post-transcriptional states, the temporal precedence of decay over expression, and cancer-relevant RBP rewiring. DeepPTR adds a generative model whose degradation latent is identifiable by construction. The full pipeline ships as an open-source, pip-installable, scanpy-compatible package with reproducibility notebooks. Limitations: the steady-state assumption breaks in fast transitions, very sparse chemistries underdetermine rare populations, and some library-size confounding remains. Thank you.</a:t>
            </a:r>
            <a:endParaRPr/>
          </a:p>
        </p:txBody>
      </p:sp>
      <p:sp>
        <p:nvSpPr>
          <p:cNvPr id="310" name="Google Shape;310;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3.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 name="Shape 15"/>
        <p:cNvGrpSpPr/>
        <p:nvPr/>
      </p:nvGrpSpPr>
      <p:grpSpPr>
        <a:xfrm>
          <a:off x="0" y="0"/>
          <a:ext cx="0" cy="0"/>
          <a:chOff x="0" y="0"/>
          <a:chExt cx="0" cy="0"/>
        </a:xfrm>
      </p:grpSpPr>
      <p:sp>
        <p:nvSpPr>
          <p:cNvPr id="16" name="Google Shape;16;p3"/>
          <p:cNvSpPr/>
          <p:nvPr/>
        </p:nvSpPr>
        <p:spPr>
          <a:xfrm>
            <a:off x="8869680" y="1280160"/>
            <a:ext cx="3657600" cy="45720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0F0F0"/>
              </a:buClr>
              <a:buSzPts val="34000"/>
              <a:buFont typeface="Arial"/>
              <a:buNone/>
            </a:pPr>
            <a:r>
              <a:t/>
            </a:r>
            <a:endParaRPr b="0" i="0" sz="34000" u="none" cap="none" strike="noStrike">
              <a:solidFill>
                <a:schemeClr val="dk1"/>
              </a:solidFill>
              <a:latin typeface="Calibri"/>
              <a:ea typeface="Calibri"/>
              <a:cs typeface="Calibri"/>
              <a:sym typeface="Calibri"/>
            </a:endParaRPr>
          </a:p>
        </p:txBody>
      </p:sp>
      <p:sp>
        <p:nvSpPr>
          <p:cNvPr id="17" name="Google Shape;17;p3"/>
          <p:cNvSpPr/>
          <p:nvPr/>
        </p:nvSpPr>
        <p:spPr>
          <a:xfrm>
            <a:off x="868680" y="1920240"/>
            <a:ext cx="822960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8000"/>
              <a:buFont typeface="Arial"/>
              <a:buNone/>
            </a:pPr>
            <a:r>
              <a:rPr b="1" i="0" lang="en-US" sz="8000" u="none" cap="none" strike="noStrike">
                <a:solidFill>
                  <a:srgbClr val="000000"/>
                </a:solidFill>
                <a:latin typeface="Arial"/>
                <a:ea typeface="Arial"/>
                <a:cs typeface="Arial"/>
                <a:sym typeface="Arial"/>
              </a:rPr>
              <a:t>scPTR</a:t>
            </a:r>
            <a:endParaRPr b="0" i="0" sz="8000" u="none" cap="none" strike="noStrike">
              <a:solidFill>
                <a:schemeClr val="dk1"/>
              </a:solidFill>
              <a:latin typeface="Calibri"/>
              <a:ea typeface="Calibri"/>
              <a:cs typeface="Calibri"/>
              <a:sym typeface="Calibri"/>
            </a:endParaRPr>
          </a:p>
        </p:txBody>
      </p:sp>
      <p:sp>
        <p:nvSpPr>
          <p:cNvPr id="18" name="Google Shape;18;p3"/>
          <p:cNvSpPr/>
          <p:nvPr/>
        </p:nvSpPr>
        <p:spPr>
          <a:xfrm>
            <a:off x="914400" y="3383280"/>
            <a:ext cx="10058400" cy="109728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111111"/>
              </a:buClr>
              <a:buSzPts val="2700"/>
              <a:buFont typeface="Arial"/>
              <a:buNone/>
            </a:pPr>
            <a:r>
              <a:rPr b="0" i="0" lang="en-US" sz="2700" u="none" cap="none" strike="noStrike">
                <a:solidFill>
                  <a:srgbClr val="111111"/>
                </a:solidFill>
                <a:latin typeface="Arial"/>
                <a:ea typeface="Arial"/>
                <a:cs typeface="Arial"/>
                <a:sym typeface="Arial"/>
              </a:rPr>
              <a:t>Decomposing Post-Transcriptional Regulation</a:t>
            </a:r>
            <a:endParaRPr b="0" i="0" sz="2700" u="none" cap="none" strike="noStrike">
              <a:solidFill>
                <a:schemeClr val="dk1"/>
              </a:solidFill>
              <a:latin typeface="Calibri"/>
              <a:ea typeface="Calibri"/>
              <a:cs typeface="Calibri"/>
              <a:sym typeface="Calibri"/>
            </a:endParaRPr>
          </a:p>
          <a:p>
            <a:pPr indent="0" lvl="0" marL="0" marR="0" rtl="0" algn="l">
              <a:lnSpc>
                <a:spcPct val="105000"/>
              </a:lnSpc>
              <a:spcBef>
                <a:spcPts val="0"/>
              </a:spcBef>
              <a:spcAft>
                <a:spcPts val="0"/>
              </a:spcAft>
              <a:buClr>
                <a:srgbClr val="111111"/>
              </a:buClr>
              <a:buSzPts val="2700"/>
              <a:buFont typeface="Arial"/>
              <a:buNone/>
            </a:pPr>
            <a:r>
              <a:rPr b="0" i="0" lang="en-US" sz="2700" u="none" cap="none" strike="noStrike">
                <a:solidFill>
                  <a:srgbClr val="111111"/>
                </a:solidFill>
                <a:latin typeface="Arial"/>
                <a:ea typeface="Arial"/>
                <a:cs typeface="Arial"/>
                <a:sym typeface="Arial"/>
              </a:rPr>
              <a:t>at Single-Cell Resolution</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 name="Shape 23"/>
        <p:cNvGrpSpPr/>
        <p:nvPr/>
      </p:nvGrpSpPr>
      <p:grpSpPr>
        <a:xfrm>
          <a:off x="0" y="0"/>
          <a:ext cx="0" cy="0"/>
          <a:chOff x="0" y="0"/>
          <a:chExt cx="0" cy="0"/>
        </a:xfrm>
      </p:grpSpPr>
      <p:sp>
        <p:nvSpPr>
          <p:cNvPr id="24" name="Google Shape;24;p4"/>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Abundance is set by synthesis AND degradation</a:t>
            </a:r>
            <a:endParaRPr b="0" i="0" sz="3000" u="none" cap="none" strike="noStrike">
              <a:solidFill>
                <a:schemeClr val="dk1"/>
              </a:solidFill>
              <a:latin typeface="Calibri"/>
              <a:ea typeface="Calibri"/>
              <a:cs typeface="Calibri"/>
              <a:sym typeface="Calibri"/>
            </a:endParaRPr>
          </a:p>
        </p:txBody>
      </p:sp>
      <p:sp>
        <p:nvSpPr>
          <p:cNvPr id="25" name="Google Shape;25;p4"/>
          <p:cNvSpPr/>
          <p:nvPr/>
        </p:nvSpPr>
        <p:spPr>
          <a:xfrm>
            <a:off x="594360" y="1737360"/>
            <a:ext cx="5212080" cy="29260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11111"/>
              </a:buClr>
              <a:buSzPts val="1750"/>
              <a:buFont typeface="Arial"/>
              <a:buNone/>
            </a:pPr>
            <a:r>
              <a:rPr b="0" i="0" lang="en-US" sz="2400" u="none" cap="none" strike="noStrike">
                <a:solidFill>
                  <a:srgbClr val="111111"/>
                </a:solidFill>
                <a:latin typeface="Arial"/>
                <a:ea typeface="Arial"/>
                <a:cs typeface="Arial"/>
                <a:sym typeface="Arial"/>
              </a:rPr>
              <a:t>RNA velocity reads the </a:t>
            </a:r>
            <a:r>
              <a:rPr b="1" i="0" lang="en-US" sz="2400" u="none" cap="none" strike="noStrike">
                <a:solidFill>
                  <a:srgbClr val="111111"/>
                </a:solidFill>
                <a:latin typeface="Arial"/>
                <a:ea typeface="Arial"/>
                <a:cs typeface="Arial"/>
                <a:sym typeface="Arial"/>
              </a:rPr>
              <a:t>synthesis</a:t>
            </a:r>
            <a:r>
              <a:rPr b="0" i="0" lang="en-US" sz="2400" u="none" cap="none" strike="noStrike">
                <a:solidFill>
                  <a:srgbClr val="111111"/>
                </a:solidFill>
                <a:latin typeface="Arial"/>
                <a:ea typeface="Arial"/>
                <a:cs typeface="Arial"/>
                <a:sym typeface="Arial"/>
              </a:rPr>
              <a:t> side</a:t>
            </a:r>
            <a:r>
              <a:rPr lang="en-US" sz="2400">
                <a:solidFill>
                  <a:srgbClr val="111111"/>
                </a:solidFill>
              </a:rPr>
              <a:t>: </a:t>
            </a:r>
            <a:r>
              <a:rPr b="0" i="0" lang="en-US" sz="2400" u="none" cap="none" strike="noStrike">
                <a:solidFill>
                  <a:srgbClr val="111111"/>
                </a:solidFill>
                <a:latin typeface="Arial"/>
                <a:ea typeface="Arial"/>
                <a:cs typeface="Arial"/>
                <a:sym typeface="Arial"/>
              </a:rPr>
              <a:t>the unspliced→spliced conversion.</a:t>
            </a:r>
            <a:endParaRPr b="0" i="0" sz="2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750"/>
              <a:buFont typeface="Calibri"/>
              <a:buNone/>
            </a:pPr>
            <a:r>
              <a:t/>
            </a:r>
            <a:endParaRPr b="0" i="0" sz="2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750"/>
              <a:buFont typeface="Arial"/>
              <a:buNone/>
            </a:pPr>
            <a:r>
              <a:rPr b="1" i="0" lang="en-US" sz="2400" u="none" cap="none" strike="noStrike">
                <a:solidFill>
                  <a:srgbClr val="111111"/>
                </a:solidFill>
                <a:latin typeface="Arial"/>
                <a:ea typeface="Arial"/>
                <a:cs typeface="Arial"/>
                <a:sym typeface="Arial"/>
              </a:rPr>
              <a:t>Degradation</a:t>
            </a:r>
            <a:r>
              <a:rPr lang="en-US" sz="2400">
                <a:solidFill>
                  <a:srgbClr val="111111"/>
                </a:solidFill>
              </a:rPr>
              <a:t>: </a:t>
            </a:r>
            <a:r>
              <a:rPr b="0" i="0" lang="en-US" sz="2400" u="none" cap="none" strike="noStrike">
                <a:solidFill>
                  <a:srgbClr val="111111"/>
                </a:solidFill>
                <a:latin typeface="Arial"/>
                <a:ea typeface="Arial"/>
                <a:cs typeface="Arial"/>
                <a:sym typeface="Arial"/>
              </a:rPr>
              <a:t>set by RBPs, miRNAs, and 3′UTR cis-elements — stays an </a:t>
            </a:r>
            <a:r>
              <a:rPr b="1" i="0" lang="en-US" sz="2400" u="none" cap="none" strike="noStrike">
                <a:solidFill>
                  <a:srgbClr val="111111"/>
                </a:solidFill>
                <a:latin typeface="Arial"/>
                <a:ea typeface="Arial"/>
                <a:cs typeface="Arial"/>
                <a:sym typeface="Arial"/>
              </a:rPr>
              <a:t>unobserved axis.</a:t>
            </a:r>
            <a:endParaRPr b="0" i="0" sz="2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750"/>
              <a:buFont typeface="Calibri"/>
              <a:buNone/>
            </a:pPr>
            <a:r>
              <a:t/>
            </a:r>
            <a:endParaRPr b="0" i="0" sz="24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750"/>
              <a:buFont typeface="Arial"/>
              <a:buNone/>
            </a:pPr>
            <a:r>
              <a:rPr b="0" i="0" lang="en-US" sz="2400" u="none" cap="none" strike="noStrike">
                <a:solidFill>
                  <a:srgbClr val="111111"/>
                </a:solidFill>
                <a:latin typeface="Arial"/>
                <a:ea typeface="Arial"/>
                <a:cs typeface="Arial"/>
                <a:sym typeface="Arial"/>
              </a:rPr>
              <a:t>Half-lives vary </a:t>
            </a:r>
            <a:r>
              <a:rPr lang="en-US" sz="2400">
                <a:solidFill>
                  <a:srgbClr val="111111"/>
                </a:solidFill>
              </a:rPr>
              <a:t>&gt;3 orders of magnitude </a:t>
            </a:r>
            <a:r>
              <a:rPr b="0" i="0" lang="en-US" sz="2400" u="none" cap="none" strike="noStrike">
                <a:solidFill>
                  <a:srgbClr val="111111"/>
                </a:solidFill>
                <a:latin typeface="Arial"/>
                <a:ea typeface="Arial"/>
                <a:cs typeface="Arial"/>
                <a:sym typeface="Arial"/>
              </a:rPr>
              <a:t>across the transcriptome and shift sharply during cell-state transitions.</a:t>
            </a:r>
            <a:endParaRPr b="0" i="0" sz="2400" u="none" cap="none" strike="noStrike">
              <a:solidFill>
                <a:schemeClr val="dk1"/>
              </a:solidFill>
              <a:latin typeface="Calibri"/>
              <a:ea typeface="Calibri"/>
              <a:cs typeface="Calibri"/>
              <a:sym typeface="Calibri"/>
            </a:endParaRPr>
          </a:p>
        </p:txBody>
      </p:sp>
      <p:sp>
        <p:nvSpPr>
          <p:cNvPr id="26" name="Google Shape;26;p4"/>
          <p:cNvSpPr/>
          <p:nvPr/>
        </p:nvSpPr>
        <p:spPr>
          <a:xfrm>
            <a:off x="6629400" y="3246120"/>
            <a:ext cx="1737360" cy="914400"/>
          </a:xfrm>
          <a:prstGeom prst="roundRect">
            <a:avLst>
              <a:gd fmla="val 8000"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a:off x="6629400" y="324612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u</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unspliced</a:t>
            </a:r>
            <a:endParaRPr b="0" i="0" sz="2000" u="none" cap="none" strike="noStrike">
              <a:solidFill>
                <a:schemeClr val="dk1"/>
              </a:solidFill>
              <a:latin typeface="Calibri"/>
              <a:ea typeface="Calibri"/>
              <a:cs typeface="Calibri"/>
              <a:sym typeface="Calibri"/>
            </a:endParaRPr>
          </a:p>
        </p:txBody>
      </p:sp>
      <p:sp>
        <p:nvSpPr>
          <p:cNvPr id="28" name="Google Shape;28;p4"/>
          <p:cNvSpPr/>
          <p:nvPr/>
        </p:nvSpPr>
        <p:spPr>
          <a:xfrm>
            <a:off x="9144000" y="3246120"/>
            <a:ext cx="1737360" cy="914400"/>
          </a:xfrm>
          <a:prstGeom prst="roundRect">
            <a:avLst>
              <a:gd fmla="val 8000" name="adj"/>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4"/>
          <p:cNvSpPr/>
          <p:nvPr/>
        </p:nvSpPr>
        <p:spPr>
          <a:xfrm>
            <a:off x="9144000" y="3246120"/>
            <a:ext cx="1737360" cy="9144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s</a:t>
            </a:r>
            <a:endParaRPr b="0" i="0" sz="20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spliced</a:t>
            </a:r>
            <a:endParaRPr b="0" i="0" sz="2000" u="none" cap="none" strike="noStrike">
              <a:solidFill>
                <a:schemeClr val="dk1"/>
              </a:solidFill>
              <a:latin typeface="Calibri"/>
              <a:ea typeface="Calibri"/>
              <a:cs typeface="Calibri"/>
              <a:sym typeface="Calibri"/>
            </a:endParaRPr>
          </a:p>
        </p:txBody>
      </p:sp>
      <p:cxnSp>
        <p:nvCxnSpPr>
          <p:cNvPr id="30" name="Google Shape;30;p4"/>
          <p:cNvCxnSpPr/>
          <p:nvPr/>
        </p:nvCxnSpPr>
        <p:spPr>
          <a:xfrm>
            <a:off x="8366760" y="3703320"/>
            <a:ext cx="777240" cy="0"/>
          </a:xfrm>
          <a:prstGeom prst="straightConnector1">
            <a:avLst/>
          </a:prstGeom>
          <a:noFill/>
          <a:ln cap="flat" cmpd="sng" w="31750">
            <a:solidFill>
              <a:srgbClr val="000000"/>
            </a:solidFill>
            <a:prstDash val="solid"/>
            <a:round/>
            <a:headEnd len="sm" w="sm" type="none"/>
            <a:tailEnd len="med" w="med" type="triangle"/>
          </a:ln>
        </p:spPr>
      </p:cxnSp>
      <p:sp>
        <p:nvSpPr>
          <p:cNvPr id="31" name="Google Shape;31;p4"/>
          <p:cNvSpPr/>
          <p:nvPr/>
        </p:nvSpPr>
        <p:spPr>
          <a:xfrm>
            <a:off x="8366760" y="283464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β</a:t>
            </a:r>
            <a:endParaRPr b="0" i="0" sz="1500" u="none" cap="none" strike="noStrike">
              <a:solidFill>
                <a:schemeClr val="dk1"/>
              </a:solidFill>
              <a:latin typeface="Calibri"/>
              <a:ea typeface="Calibri"/>
              <a:cs typeface="Calibri"/>
              <a:sym typeface="Calibri"/>
            </a:endParaRPr>
          </a:p>
        </p:txBody>
      </p:sp>
      <p:cxnSp>
        <p:nvCxnSpPr>
          <p:cNvPr id="32" name="Google Shape;32;p4"/>
          <p:cNvCxnSpPr/>
          <p:nvPr/>
        </p:nvCxnSpPr>
        <p:spPr>
          <a:xfrm>
            <a:off x="10881360" y="3703320"/>
            <a:ext cx="777240" cy="0"/>
          </a:xfrm>
          <a:prstGeom prst="straightConnector1">
            <a:avLst/>
          </a:prstGeom>
          <a:noFill/>
          <a:ln cap="flat" cmpd="sng" w="31750">
            <a:solidFill>
              <a:srgbClr val="000000"/>
            </a:solidFill>
            <a:prstDash val="dash"/>
            <a:round/>
            <a:headEnd len="sm" w="sm" type="none"/>
            <a:tailEnd len="med" w="med" type="triangle"/>
          </a:ln>
        </p:spPr>
      </p:cxnSp>
      <p:sp>
        <p:nvSpPr>
          <p:cNvPr id="33" name="Google Shape;33;p4"/>
          <p:cNvSpPr/>
          <p:nvPr/>
        </p:nvSpPr>
        <p:spPr>
          <a:xfrm>
            <a:off x="10881360" y="2834640"/>
            <a:ext cx="777240"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γ</a:t>
            </a:r>
            <a:endParaRPr b="0" i="0" sz="1500" u="none" cap="none" strike="noStrike">
              <a:solidFill>
                <a:schemeClr val="dk1"/>
              </a:solidFill>
              <a:latin typeface="Calibri"/>
              <a:ea typeface="Calibri"/>
              <a:cs typeface="Calibri"/>
              <a:sym typeface="Calibri"/>
            </a:endParaRPr>
          </a:p>
        </p:txBody>
      </p:sp>
      <p:sp>
        <p:nvSpPr>
          <p:cNvPr id="34" name="Google Shape;34;p4"/>
          <p:cNvSpPr/>
          <p:nvPr/>
        </p:nvSpPr>
        <p:spPr>
          <a:xfrm>
            <a:off x="11704290" y="3428968"/>
            <a:ext cx="365700" cy="5487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A6A"/>
              </a:buClr>
              <a:buSzPts val="2200"/>
              <a:buFont typeface="Arial"/>
              <a:buNone/>
            </a:pPr>
            <a:r>
              <a:rPr b="0" i="0" lang="en-US" sz="2200" u="none" cap="none" strike="noStrike">
                <a:solidFill>
                  <a:srgbClr val="6A6A6A"/>
                </a:solidFill>
                <a:latin typeface="Arial"/>
                <a:ea typeface="Arial"/>
                <a:cs typeface="Arial"/>
                <a:sym typeface="Arial"/>
              </a:rPr>
              <a:t>∅</a:t>
            </a:r>
            <a:endParaRPr b="0" i="0" sz="2200" u="none" cap="none" strike="noStrike">
              <a:solidFill>
                <a:schemeClr val="dk1"/>
              </a:solidFill>
              <a:latin typeface="Calibri"/>
              <a:ea typeface="Calibri"/>
              <a:cs typeface="Calibri"/>
              <a:sym typeface="Calibri"/>
            </a:endParaRPr>
          </a:p>
        </p:txBody>
      </p:sp>
      <p:sp>
        <p:nvSpPr>
          <p:cNvPr id="35" name="Google Shape;35;p4"/>
          <p:cNvSpPr txBox="1"/>
          <p:nvPr/>
        </p:nvSpPr>
        <p:spPr>
          <a:xfrm>
            <a:off x="9192000" y="6026700"/>
            <a:ext cx="3000000" cy="831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La Manno et al., 2018; Bergen et al., 2020; Hentze et al., 2018; Lewis et al., 2005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 name="Shape 40"/>
        <p:cNvGrpSpPr/>
        <p:nvPr/>
      </p:nvGrpSpPr>
      <p:grpSpPr>
        <a:xfrm>
          <a:off x="0" y="0"/>
          <a:ext cx="0" cy="0"/>
          <a:chOff x="0" y="0"/>
          <a:chExt cx="0" cy="0"/>
        </a:xfrm>
      </p:grpSpPr>
      <p:sp>
        <p:nvSpPr>
          <p:cNvPr id="41" name="Google Shape;41;p5"/>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Degradation is large, variable</a:t>
            </a:r>
            <a:r>
              <a:rPr b="1" lang="en-US" sz="3000">
                <a:solidFill>
                  <a:srgbClr val="111111"/>
                </a:solidFill>
              </a:rPr>
              <a:t>, </a:t>
            </a:r>
            <a:r>
              <a:rPr b="1" i="0" lang="en-US" sz="3000" u="none" cap="none" strike="noStrike">
                <a:solidFill>
                  <a:srgbClr val="111111"/>
                </a:solidFill>
                <a:latin typeface="Arial"/>
                <a:ea typeface="Arial"/>
                <a:cs typeface="Arial"/>
                <a:sym typeface="Arial"/>
              </a:rPr>
              <a:t>and invisible to expression</a:t>
            </a:r>
            <a:endParaRPr b="0" i="0" sz="3000" u="none" cap="none" strike="noStrike">
              <a:solidFill>
                <a:schemeClr val="dk1"/>
              </a:solidFill>
              <a:latin typeface="Calibri"/>
              <a:ea typeface="Calibri"/>
              <a:cs typeface="Calibri"/>
              <a:sym typeface="Calibri"/>
            </a:endParaRPr>
          </a:p>
        </p:txBody>
      </p:sp>
      <p:pic>
        <p:nvPicPr>
          <p:cNvPr descr="figs/gen_concept.png" id="42" name="Google Shape;42;p5"/>
          <p:cNvPicPr preferRelativeResize="0"/>
          <p:nvPr/>
        </p:nvPicPr>
        <p:blipFill rotWithShape="1">
          <a:blip r:embed="rId3">
            <a:alphaModFix/>
          </a:blip>
          <a:srcRect b="0" l="0" r="0" t="0"/>
          <a:stretch/>
        </p:blipFill>
        <p:spPr>
          <a:xfrm>
            <a:off x="2273600" y="1271325"/>
            <a:ext cx="8110451" cy="51154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7" name="Shape 47"/>
        <p:cNvGrpSpPr/>
        <p:nvPr/>
      </p:nvGrpSpPr>
      <p:grpSpPr>
        <a:xfrm>
          <a:off x="0" y="0"/>
          <a:ext cx="0" cy="0"/>
          <a:chOff x="0" y="0"/>
          <a:chExt cx="0" cy="0"/>
        </a:xfrm>
      </p:grpSpPr>
      <p:sp>
        <p:nvSpPr>
          <p:cNvPr id="48" name="Google Shape;48;p6"/>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Three things expression alone cannot see</a:t>
            </a:r>
            <a:endParaRPr b="0" i="0" sz="3000" u="none" cap="none" strike="noStrike">
              <a:solidFill>
                <a:schemeClr val="dk1"/>
              </a:solidFill>
              <a:latin typeface="Calibri"/>
              <a:ea typeface="Calibri"/>
              <a:cs typeface="Calibri"/>
              <a:sym typeface="Calibri"/>
            </a:endParaRPr>
          </a:p>
        </p:txBody>
      </p:sp>
      <p:sp>
        <p:nvSpPr>
          <p:cNvPr id="49" name="Google Shape;49;p6"/>
          <p:cNvSpPr/>
          <p:nvPr/>
        </p:nvSpPr>
        <p:spPr>
          <a:xfrm>
            <a:off x="594360" y="1874520"/>
            <a:ext cx="3566100" cy="3657600"/>
          </a:xfrm>
          <a:prstGeom prst="roundRect">
            <a:avLst>
              <a:gd fmla="val 2308"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6"/>
          <p:cNvSpPr/>
          <p:nvPr/>
        </p:nvSpPr>
        <p:spPr>
          <a:xfrm>
            <a:off x="914400" y="2240280"/>
            <a:ext cx="868680" cy="86868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6"/>
          <p:cNvSpPr/>
          <p:nvPr/>
        </p:nvSpPr>
        <p:spPr>
          <a:xfrm>
            <a:off x="914400" y="2240280"/>
            <a:ext cx="8686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01</a:t>
            </a:r>
            <a:endParaRPr b="0" i="0" sz="2200" u="none" cap="none" strike="noStrike">
              <a:solidFill>
                <a:schemeClr val="dk1"/>
              </a:solidFill>
              <a:latin typeface="Calibri"/>
              <a:ea typeface="Calibri"/>
              <a:cs typeface="Calibri"/>
              <a:sym typeface="Calibri"/>
            </a:endParaRPr>
          </a:p>
        </p:txBody>
      </p:sp>
      <p:sp>
        <p:nvSpPr>
          <p:cNvPr id="52" name="Google Shape;52;p6"/>
          <p:cNvSpPr/>
          <p:nvPr/>
        </p:nvSpPr>
        <p:spPr>
          <a:xfrm>
            <a:off x="914400" y="3337560"/>
            <a:ext cx="2926200" cy="77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Hidden heterogeneity</a:t>
            </a:r>
            <a:endParaRPr b="0" i="0" sz="2000" u="none" cap="none" strike="noStrike">
              <a:solidFill>
                <a:schemeClr val="dk1"/>
              </a:solidFill>
              <a:latin typeface="Calibri"/>
              <a:ea typeface="Calibri"/>
              <a:cs typeface="Calibri"/>
              <a:sym typeface="Calibri"/>
            </a:endParaRPr>
          </a:p>
        </p:txBody>
      </p:sp>
      <p:sp>
        <p:nvSpPr>
          <p:cNvPr id="53" name="Google Shape;53;p6"/>
          <p:cNvSpPr/>
          <p:nvPr/>
        </p:nvSpPr>
        <p:spPr>
          <a:xfrm>
            <a:off x="4480560" y="1874520"/>
            <a:ext cx="3566100" cy="3657600"/>
          </a:xfrm>
          <a:prstGeom prst="roundRect">
            <a:avLst>
              <a:gd fmla="val 2308"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 name="Google Shape;54;p6"/>
          <p:cNvSpPr/>
          <p:nvPr/>
        </p:nvSpPr>
        <p:spPr>
          <a:xfrm>
            <a:off x="4800600" y="2240280"/>
            <a:ext cx="868800" cy="8688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 name="Google Shape;55;p6"/>
          <p:cNvSpPr/>
          <p:nvPr/>
        </p:nvSpPr>
        <p:spPr>
          <a:xfrm>
            <a:off x="4800600" y="2240280"/>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02</a:t>
            </a:r>
            <a:endParaRPr b="0" i="0" sz="2200" u="none" cap="none" strike="noStrike">
              <a:solidFill>
                <a:schemeClr val="dk1"/>
              </a:solidFill>
              <a:latin typeface="Calibri"/>
              <a:ea typeface="Calibri"/>
              <a:cs typeface="Calibri"/>
              <a:sym typeface="Calibri"/>
            </a:endParaRPr>
          </a:p>
        </p:txBody>
      </p:sp>
      <p:sp>
        <p:nvSpPr>
          <p:cNvPr id="56" name="Google Shape;56;p6"/>
          <p:cNvSpPr/>
          <p:nvPr/>
        </p:nvSpPr>
        <p:spPr>
          <a:xfrm>
            <a:off x="4800600" y="3337560"/>
            <a:ext cx="2926200" cy="77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Temporal ordering</a:t>
            </a:r>
            <a:endParaRPr b="0" i="0" sz="2000" u="none" cap="none" strike="noStrike">
              <a:solidFill>
                <a:schemeClr val="dk1"/>
              </a:solidFill>
              <a:latin typeface="Calibri"/>
              <a:ea typeface="Calibri"/>
              <a:cs typeface="Calibri"/>
              <a:sym typeface="Calibri"/>
            </a:endParaRPr>
          </a:p>
        </p:txBody>
      </p:sp>
      <p:sp>
        <p:nvSpPr>
          <p:cNvPr id="57" name="Google Shape;57;p6"/>
          <p:cNvSpPr/>
          <p:nvPr/>
        </p:nvSpPr>
        <p:spPr>
          <a:xfrm>
            <a:off x="8366760" y="1874520"/>
            <a:ext cx="3566100" cy="3657600"/>
          </a:xfrm>
          <a:prstGeom prst="roundRect">
            <a:avLst>
              <a:gd fmla="val 2308"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6"/>
          <p:cNvSpPr/>
          <p:nvPr/>
        </p:nvSpPr>
        <p:spPr>
          <a:xfrm>
            <a:off x="8686800" y="2240280"/>
            <a:ext cx="868800" cy="86880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6"/>
          <p:cNvSpPr/>
          <p:nvPr/>
        </p:nvSpPr>
        <p:spPr>
          <a:xfrm>
            <a:off x="8686800" y="2240280"/>
            <a:ext cx="868800" cy="8688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200"/>
              <a:buFont typeface="Arial"/>
              <a:buNone/>
            </a:pPr>
            <a:r>
              <a:rPr b="1" i="0" lang="en-US" sz="2200" u="none" cap="none" strike="noStrike">
                <a:solidFill>
                  <a:srgbClr val="FFFFFF"/>
                </a:solidFill>
                <a:latin typeface="Arial"/>
                <a:ea typeface="Arial"/>
                <a:cs typeface="Arial"/>
                <a:sym typeface="Arial"/>
              </a:rPr>
              <a:t>03</a:t>
            </a:r>
            <a:endParaRPr b="0" i="0" sz="2200" u="none" cap="none" strike="noStrike">
              <a:solidFill>
                <a:schemeClr val="dk1"/>
              </a:solidFill>
              <a:latin typeface="Calibri"/>
              <a:ea typeface="Calibri"/>
              <a:cs typeface="Calibri"/>
              <a:sym typeface="Calibri"/>
            </a:endParaRPr>
          </a:p>
        </p:txBody>
      </p:sp>
      <p:sp>
        <p:nvSpPr>
          <p:cNvPr id="60" name="Google Shape;60;p6"/>
          <p:cNvSpPr/>
          <p:nvPr/>
        </p:nvSpPr>
        <p:spPr>
          <a:xfrm>
            <a:off x="8686800" y="3337560"/>
            <a:ext cx="2926200" cy="7773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Disease signal</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sp>
        <p:nvSpPr>
          <p:cNvPr id="66" name="Google Shape;66;p7"/>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Make per-cell γ a first-class observable</a:t>
            </a:r>
            <a:endParaRPr b="0" i="0" sz="3000" u="none" cap="none" strike="noStrike">
              <a:solidFill>
                <a:schemeClr val="dk1"/>
              </a:solidFill>
              <a:latin typeface="Calibri"/>
              <a:ea typeface="Calibri"/>
              <a:cs typeface="Calibri"/>
              <a:sym typeface="Calibri"/>
            </a:endParaRPr>
          </a:p>
        </p:txBody>
      </p:sp>
      <p:sp>
        <p:nvSpPr>
          <p:cNvPr id="67" name="Google Shape;67;p7"/>
          <p:cNvSpPr/>
          <p:nvPr/>
        </p:nvSpPr>
        <p:spPr>
          <a:xfrm>
            <a:off x="1295410" y="1508530"/>
            <a:ext cx="9601200" cy="1600200"/>
          </a:xfrm>
          <a:prstGeom prst="roundRect">
            <a:avLst>
              <a:gd fmla="val 5714" name="adj"/>
            </a:avLst>
          </a:prstGeom>
          <a:solidFill>
            <a:srgbClr val="F2F2F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7"/>
          <p:cNvSpPr/>
          <p:nvPr/>
        </p:nvSpPr>
        <p:spPr>
          <a:xfrm>
            <a:off x="1478290" y="1691410"/>
            <a:ext cx="9235500" cy="12801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000000"/>
              </a:buClr>
              <a:buSzPts val="3000"/>
              <a:buFont typeface="Arial"/>
              <a:buNone/>
            </a:pPr>
            <a:r>
              <a:rPr b="1" i="0" lang="en-US" sz="3000" u="none" cap="none" strike="noStrike">
                <a:solidFill>
                  <a:srgbClr val="000000"/>
                </a:solidFill>
                <a:latin typeface="Arial"/>
                <a:ea typeface="Arial"/>
                <a:cs typeface="Arial"/>
                <a:sym typeface="Arial"/>
              </a:rPr>
              <a:t>γ</a:t>
            </a:r>
            <a:r>
              <a:rPr b="0" i="0" lang="en-US" sz="2600" u="none" cap="none" strike="noStrike">
                <a:solidFill>
                  <a:srgbClr val="111111"/>
                </a:solidFill>
                <a:latin typeface="Arial"/>
                <a:ea typeface="Arial"/>
                <a:cs typeface="Arial"/>
                <a:sym typeface="Arial"/>
              </a:rPr>
              <a:t>ᵢᵧ · sᵢᵧ  =  βᵧ · uᵢᵧ       ⟹       </a:t>
            </a:r>
            <a:r>
              <a:rPr b="1" i="0" lang="en-US" sz="3000" u="none" cap="none" strike="noStrike">
                <a:solidFill>
                  <a:srgbClr val="000000"/>
                </a:solidFill>
                <a:latin typeface="Arial"/>
                <a:ea typeface="Arial"/>
                <a:cs typeface="Arial"/>
                <a:sym typeface="Arial"/>
              </a:rPr>
              <a:t>γ</a:t>
            </a:r>
            <a:r>
              <a:rPr b="0" i="0" lang="en-US" sz="2600" u="none" cap="none" strike="noStrike">
                <a:solidFill>
                  <a:srgbClr val="111111"/>
                </a:solidFill>
                <a:latin typeface="Arial"/>
                <a:ea typeface="Arial"/>
                <a:cs typeface="Arial"/>
                <a:sym typeface="Arial"/>
              </a:rPr>
              <a:t>ᵢᵧ = βᵧ · uᵢᵧ / sᵢᵧ</a:t>
            </a:r>
            <a:endParaRPr b="0" i="0" sz="1800" u="none" cap="none" strike="noStrike">
              <a:solidFill>
                <a:schemeClr val="dk1"/>
              </a:solidFill>
              <a:latin typeface="Calibri"/>
              <a:ea typeface="Calibri"/>
              <a:cs typeface="Calibri"/>
              <a:sym typeface="Calibri"/>
            </a:endParaRPr>
          </a:p>
        </p:txBody>
      </p:sp>
      <p:sp>
        <p:nvSpPr>
          <p:cNvPr id="69" name="Google Shape;69;p7"/>
          <p:cNvSpPr/>
          <p:nvPr/>
        </p:nvSpPr>
        <p:spPr>
          <a:xfrm>
            <a:off x="1280160" y="4742790"/>
            <a:ext cx="100584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The obstacle: sparsity</a:t>
            </a:r>
            <a:endParaRPr b="0" i="0" sz="2000" u="none" cap="none" strike="noStrike">
              <a:solidFill>
                <a:schemeClr val="dk1"/>
              </a:solidFill>
              <a:latin typeface="Calibri"/>
              <a:ea typeface="Calibri"/>
              <a:cs typeface="Calibri"/>
              <a:sym typeface="Calibri"/>
            </a:endParaRPr>
          </a:p>
        </p:txBody>
      </p:sp>
      <p:sp>
        <p:nvSpPr>
          <p:cNvPr id="70" name="Google Shape;70;p7"/>
          <p:cNvSpPr/>
          <p:nvPr/>
        </p:nvSpPr>
        <p:spPr>
          <a:xfrm>
            <a:off x="1280160" y="5245710"/>
            <a:ext cx="9692700" cy="14631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Unspliced counts are only 5–15% of spliced in droplet scRNA-seq. </a:t>
            </a:r>
            <a:endParaRPr b="0" i="0" sz="1700" u="none" cap="none" strike="noStrike">
              <a:solidFill>
                <a:srgbClr val="111111"/>
              </a:solidFill>
              <a:latin typeface="Arial"/>
              <a:ea typeface="Arial"/>
              <a:cs typeface="Arial"/>
              <a:sym typeface="Arial"/>
            </a:endParaRPr>
          </a:p>
          <a:p>
            <a:pPr indent="0" lvl="0" marL="0" marR="0" rtl="0" algn="l">
              <a:lnSpc>
                <a:spcPct val="115000"/>
              </a:lnSpc>
              <a:spcBef>
                <a:spcPts val="0"/>
              </a:spcBef>
              <a:spcAft>
                <a:spcPts val="0"/>
              </a:spcAft>
              <a:buClr>
                <a:srgbClr val="111111"/>
              </a:buClr>
              <a:buSzPts val="1700"/>
              <a:buFont typeface="Arial"/>
              <a:buNone/>
            </a:pPr>
            <a:r>
              <a:rPr b="1" i="0" lang="en-US" sz="1700" u="none" cap="none" strike="noStrike">
                <a:solidFill>
                  <a:srgbClr val="000000"/>
                </a:solidFill>
                <a:latin typeface="Arial"/>
                <a:ea typeface="Arial"/>
                <a:cs typeface="Arial"/>
                <a:sym typeface="Arial"/>
              </a:rPr>
              <a:t>Naive per-cell u / s ratios are pure sampling noise</a:t>
            </a:r>
            <a:r>
              <a:rPr b="0" i="0" lang="en-US" sz="1700" u="none" cap="none" strike="noStrike">
                <a:solidFill>
                  <a:srgbClr val="111111"/>
                </a:solidFill>
                <a:latin typeface="Arial"/>
                <a:ea typeface="Arial"/>
                <a:cs typeface="Arial"/>
                <a:sym typeface="Arial"/>
              </a:rPr>
              <a:t> </a:t>
            </a:r>
            <a:endParaRPr sz="1700">
              <a:solidFill>
                <a:srgbClr val="111111"/>
              </a:solidFill>
            </a:endParaRPr>
          </a:p>
          <a:p>
            <a:pPr indent="0" lvl="0" marL="0" marR="0" rtl="0" algn="l">
              <a:lnSpc>
                <a:spcPct val="115000"/>
              </a:lnSpc>
              <a:spcBef>
                <a:spcPts val="0"/>
              </a:spcBef>
              <a:spcAft>
                <a:spcPts val="0"/>
              </a:spcAft>
              <a:buClr>
                <a:srgbClr val="111111"/>
              </a:buClr>
              <a:buSzPts val="1700"/>
              <a:buFont typeface="Arial"/>
              <a:buNone/>
            </a:pPr>
            <a:r>
              <a:t/>
            </a:r>
            <a:endParaRPr sz="1700">
              <a:solidFill>
                <a:srgbClr val="111111"/>
              </a:solidFill>
            </a:endParaRPr>
          </a:p>
          <a:p>
            <a:pPr indent="0" lvl="0" marL="0" marR="0" rtl="0" algn="l">
              <a:lnSpc>
                <a:spcPct val="115000"/>
              </a:lnSpc>
              <a:spcBef>
                <a:spcPts val="0"/>
              </a:spcBef>
              <a:spcAft>
                <a:spcPts val="0"/>
              </a:spcAft>
              <a:buClr>
                <a:srgbClr val="111111"/>
              </a:buClr>
              <a:buSzPts val="1700"/>
              <a:buFont typeface="Arial"/>
              <a:buNone/>
            </a:pPr>
            <a:r>
              <a:rPr lang="en-US" sz="1700">
                <a:solidFill>
                  <a:srgbClr val="111111"/>
                </a:solidFill>
              </a:rPr>
              <a:t>E</a:t>
            </a:r>
            <a:r>
              <a:rPr b="0" i="0" lang="en-US" sz="1700" u="none" cap="none" strike="noStrike">
                <a:solidFill>
                  <a:srgbClr val="111111"/>
                </a:solidFill>
                <a:latin typeface="Arial"/>
                <a:ea typeface="Arial"/>
                <a:cs typeface="Arial"/>
                <a:sym typeface="Arial"/>
              </a:rPr>
              <a:t>very prior method collapses γ to a single per-gene scalar, discarding exactly the cell-resolution signal we want.</a:t>
            </a:r>
            <a:endParaRPr b="0" i="0" sz="1700" u="none" cap="none" strike="noStrike">
              <a:solidFill>
                <a:schemeClr val="dk1"/>
              </a:solidFill>
              <a:latin typeface="Calibri"/>
              <a:ea typeface="Calibri"/>
              <a:cs typeface="Calibri"/>
              <a:sym typeface="Calibri"/>
            </a:endParaRPr>
          </a:p>
        </p:txBody>
      </p:sp>
      <p:sp>
        <p:nvSpPr>
          <p:cNvPr id="71" name="Google Shape;71;p7"/>
          <p:cNvSpPr txBox="1"/>
          <p:nvPr/>
        </p:nvSpPr>
        <p:spPr>
          <a:xfrm>
            <a:off x="1295400" y="3298038"/>
            <a:ext cx="9601200" cy="126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dk1"/>
                </a:solidFill>
              </a:rPr>
              <a:t>γ</a:t>
            </a:r>
            <a:r>
              <a:rPr lang="en-US">
                <a:solidFill>
                  <a:schemeClr val="dk1"/>
                </a:solidFill>
              </a:rPr>
              <a:t> (gamma) — the </a:t>
            </a:r>
            <a:r>
              <a:rPr b="1" lang="en-US">
                <a:solidFill>
                  <a:schemeClr val="dk1"/>
                </a:solidFill>
              </a:rPr>
              <a:t>degradation rate constant</a:t>
            </a:r>
            <a:r>
              <a:rPr lang="en-US">
                <a:solidFill>
                  <a:schemeClr val="dk1"/>
                </a:solidFill>
              </a:rPr>
              <a:t>.</a:t>
            </a:r>
            <a:endParaRPr>
              <a:solidFill>
                <a:schemeClr val="dk1"/>
              </a:solidFill>
            </a:endParaRPr>
          </a:p>
          <a:p>
            <a:pPr indent="0" lvl="0" marL="0" rtl="0" algn="l">
              <a:spcBef>
                <a:spcPts val="0"/>
              </a:spcBef>
              <a:spcAft>
                <a:spcPts val="0"/>
              </a:spcAft>
              <a:buNone/>
            </a:pPr>
            <a:r>
              <a:rPr b="1" lang="en-US">
                <a:solidFill>
                  <a:schemeClr val="dk1"/>
                </a:solidFill>
              </a:rPr>
              <a:t>β</a:t>
            </a:r>
            <a:r>
              <a:rPr lang="en-US">
                <a:solidFill>
                  <a:schemeClr val="dk1"/>
                </a:solidFill>
              </a:rPr>
              <a:t> (beta) — the </a:t>
            </a:r>
            <a:r>
              <a:rPr b="1" lang="en-US">
                <a:solidFill>
                  <a:schemeClr val="dk1"/>
                </a:solidFill>
              </a:rPr>
              <a:t>splicing rate constant</a:t>
            </a:r>
            <a:r>
              <a:rPr lang="en-US">
                <a:solidFill>
                  <a:schemeClr val="dk1"/>
                </a:solidFill>
              </a:rPr>
              <a:t>. </a:t>
            </a:r>
            <a:endParaRPr>
              <a:solidFill>
                <a:schemeClr val="dk1"/>
              </a:solidFill>
            </a:endParaRPr>
          </a:p>
          <a:p>
            <a:pPr indent="0" lvl="0" marL="0" rtl="0" algn="l">
              <a:spcBef>
                <a:spcPts val="0"/>
              </a:spcBef>
              <a:spcAft>
                <a:spcPts val="0"/>
              </a:spcAft>
              <a:buNone/>
            </a:pPr>
            <a:r>
              <a:rPr b="1" lang="en-US">
                <a:solidFill>
                  <a:schemeClr val="dk1"/>
                </a:solidFill>
              </a:rPr>
              <a:t>u</a:t>
            </a:r>
            <a:r>
              <a:rPr lang="en-US">
                <a:solidFill>
                  <a:schemeClr val="dk1"/>
                </a:solidFill>
              </a:rPr>
              <a:t> — </a:t>
            </a:r>
            <a:r>
              <a:rPr b="1" lang="en-US">
                <a:solidFill>
                  <a:schemeClr val="dk1"/>
                </a:solidFill>
              </a:rPr>
              <a:t>unspliced</a:t>
            </a:r>
            <a:r>
              <a:rPr lang="en-US">
                <a:solidFill>
                  <a:schemeClr val="dk1"/>
                </a:solidFill>
              </a:rPr>
              <a:t> count. The amount of newly-transcribed pre-mRNA (introns not yet removed) measured for that gene.</a:t>
            </a:r>
            <a:endParaRPr>
              <a:solidFill>
                <a:schemeClr val="dk1"/>
              </a:solidFill>
            </a:endParaRPr>
          </a:p>
          <a:p>
            <a:pPr indent="0" lvl="0" marL="0" rtl="0" algn="l">
              <a:spcBef>
                <a:spcPts val="0"/>
              </a:spcBef>
              <a:spcAft>
                <a:spcPts val="0"/>
              </a:spcAft>
              <a:buNone/>
            </a:pPr>
            <a:r>
              <a:rPr b="1" lang="en-US">
                <a:solidFill>
                  <a:schemeClr val="dk1"/>
                </a:solidFill>
              </a:rPr>
              <a:t>s</a:t>
            </a:r>
            <a:r>
              <a:rPr lang="en-US">
                <a:solidFill>
                  <a:schemeClr val="dk1"/>
                </a:solidFill>
              </a:rPr>
              <a:t> — </a:t>
            </a:r>
            <a:r>
              <a:rPr b="1" lang="en-US">
                <a:solidFill>
                  <a:schemeClr val="dk1"/>
                </a:solidFill>
              </a:rPr>
              <a:t>spliced</a:t>
            </a:r>
            <a:r>
              <a:rPr lang="en-US">
                <a:solidFill>
                  <a:schemeClr val="dk1"/>
                </a:solidFill>
              </a:rPr>
              <a:t> count. The amount of mature mRNA (introns removed) — this is essentially what standard expression measures.</a:t>
            </a:r>
            <a:endParaRPr>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6" name="Shape 76"/>
        <p:cNvGrpSpPr/>
        <p:nvPr/>
      </p:nvGrpSpPr>
      <p:grpSpPr>
        <a:xfrm>
          <a:off x="0" y="0"/>
          <a:ext cx="0" cy="0"/>
          <a:chOff x="0" y="0"/>
          <a:chExt cx="0" cy="0"/>
        </a:xfrm>
      </p:grpSpPr>
      <p:sp>
        <p:nvSpPr>
          <p:cNvPr id="77" name="Google Shape;77;p8"/>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scPTR pipeline</a:t>
            </a:r>
            <a:endParaRPr b="0" i="0" sz="3000" u="none" cap="none" strike="noStrike">
              <a:solidFill>
                <a:schemeClr val="dk1"/>
              </a:solidFill>
              <a:latin typeface="Calibri"/>
              <a:ea typeface="Calibri"/>
              <a:cs typeface="Calibri"/>
              <a:sym typeface="Calibri"/>
            </a:endParaRPr>
          </a:p>
        </p:txBody>
      </p:sp>
      <p:sp>
        <p:nvSpPr>
          <p:cNvPr id="78" name="Google Shape;78;p8"/>
          <p:cNvSpPr/>
          <p:nvPr/>
        </p:nvSpPr>
        <p:spPr>
          <a:xfrm>
            <a:off x="548640" y="1783080"/>
            <a:ext cx="2514600" cy="1051560"/>
          </a:xfrm>
          <a:prstGeom prst="roundRect">
            <a:avLst>
              <a:gd fmla="val 6087"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a:off x="548640" y="1783080"/>
            <a:ext cx="2514600" cy="10515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Raw scRNA-seq</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spliced + unspliced</a:t>
            </a:r>
            <a:endParaRPr b="0" i="0" sz="1250" u="none" cap="none" strike="noStrike">
              <a:solidFill>
                <a:schemeClr val="dk1"/>
              </a:solidFill>
              <a:latin typeface="Calibri"/>
              <a:ea typeface="Calibri"/>
              <a:cs typeface="Calibri"/>
              <a:sym typeface="Calibri"/>
            </a:endParaRPr>
          </a:p>
        </p:txBody>
      </p:sp>
      <p:cxnSp>
        <p:nvCxnSpPr>
          <p:cNvPr id="80" name="Google Shape;80;p8"/>
          <p:cNvCxnSpPr/>
          <p:nvPr/>
        </p:nvCxnSpPr>
        <p:spPr>
          <a:xfrm>
            <a:off x="3063240" y="2308860"/>
            <a:ext cx="320040" cy="0"/>
          </a:xfrm>
          <a:prstGeom prst="straightConnector1">
            <a:avLst/>
          </a:prstGeom>
          <a:noFill/>
          <a:ln cap="flat" cmpd="sng" w="25400">
            <a:solidFill>
              <a:srgbClr val="000000"/>
            </a:solidFill>
            <a:prstDash val="solid"/>
            <a:round/>
            <a:headEnd len="sm" w="sm" type="none"/>
            <a:tailEnd len="med" w="med" type="triangle"/>
          </a:ln>
        </p:spPr>
      </p:cxnSp>
      <p:sp>
        <p:nvSpPr>
          <p:cNvPr id="81" name="Google Shape;81;p8"/>
          <p:cNvSpPr/>
          <p:nvPr/>
        </p:nvSpPr>
        <p:spPr>
          <a:xfrm>
            <a:off x="3383280" y="1783080"/>
            <a:ext cx="2514600" cy="1051560"/>
          </a:xfrm>
          <a:prstGeom prst="roundRect">
            <a:avLst>
              <a:gd fmla="val 6087"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3383280" y="1783080"/>
            <a:ext cx="2514600" cy="10515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Preprocess</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111111"/>
              </a:buClr>
              <a:buSzPts val="1050"/>
              <a:buFont typeface="Arial"/>
              <a:buNone/>
            </a:pPr>
            <a:r>
              <a:rPr b="0" i="0" lang="en-US" sz="1050" u="none" cap="none" strike="noStrike">
                <a:solidFill>
                  <a:srgbClr val="111111"/>
                </a:solidFill>
                <a:latin typeface="Arial"/>
                <a:ea typeface="Arial"/>
                <a:cs typeface="Arial"/>
                <a:sym typeface="Arial"/>
              </a:rPr>
              <a:t>filter · per-layer norm</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050"/>
              <a:buFont typeface="Arial"/>
              <a:buNone/>
            </a:pPr>
            <a:r>
              <a:rPr b="0" i="0" lang="en-US" sz="1050" u="none" cap="none" strike="noStrike">
                <a:solidFill>
                  <a:srgbClr val="6A6A6A"/>
                </a:solidFill>
                <a:latin typeface="Arial"/>
                <a:ea typeface="Arial"/>
                <a:cs typeface="Arial"/>
                <a:sym typeface="Arial"/>
              </a:rPr>
              <a:t>kNN + adaptive smoothing</a:t>
            </a:r>
            <a:endParaRPr b="0" i="0" sz="1250" u="none" cap="none" strike="noStrike">
              <a:solidFill>
                <a:schemeClr val="dk1"/>
              </a:solidFill>
              <a:latin typeface="Calibri"/>
              <a:ea typeface="Calibri"/>
              <a:cs typeface="Calibri"/>
              <a:sym typeface="Calibri"/>
            </a:endParaRPr>
          </a:p>
        </p:txBody>
      </p:sp>
      <p:cxnSp>
        <p:nvCxnSpPr>
          <p:cNvPr id="83" name="Google Shape;83;p8"/>
          <p:cNvCxnSpPr/>
          <p:nvPr/>
        </p:nvCxnSpPr>
        <p:spPr>
          <a:xfrm>
            <a:off x="5897880" y="2308860"/>
            <a:ext cx="320040" cy="0"/>
          </a:xfrm>
          <a:prstGeom prst="straightConnector1">
            <a:avLst/>
          </a:prstGeom>
          <a:noFill/>
          <a:ln cap="flat" cmpd="sng" w="25400">
            <a:solidFill>
              <a:srgbClr val="000000"/>
            </a:solidFill>
            <a:prstDash val="solid"/>
            <a:round/>
            <a:headEnd len="sm" w="sm" type="none"/>
            <a:tailEnd len="med" w="med" type="triangle"/>
          </a:ln>
        </p:spPr>
      </p:cxnSp>
      <p:sp>
        <p:nvSpPr>
          <p:cNvPr id="84" name="Google Shape;84;p8"/>
          <p:cNvSpPr/>
          <p:nvPr/>
        </p:nvSpPr>
        <p:spPr>
          <a:xfrm>
            <a:off x="6217920" y="1783080"/>
            <a:ext cx="2514600" cy="1051560"/>
          </a:xfrm>
          <a:prstGeom prst="roundRect">
            <a:avLst>
              <a:gd fmla="val 6087"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8"/>
          <p:cNvSpPr/>
          <p:nvPr/>
        </p:nvSpPr>
        <p:spPr>
          <a:xfrm>
            <a:off x="6217920" y="1783080"/>
            <a:ext cx="2514600" cy="10515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β estimation</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111111"/>
              </a:buClr>
              <a:buSzPts val="1050"/>
              <a:buFont typeface="Arial"/>
              <a:buNone/>
            </a:pPr>
            <a:r>
              <a:rPr b="0" i="0" lang="en-US" sz="1050" u="none" cap="none" strike="noStrike">
                <a:solidFill>
                  <a:srgbClr val="111111"/>
                </a:solidFill>
                <a:latin typeface="Arial"/>
                <a:ea typeface="Arial"/>
                <a:cs typeface="Arial"/>
                <a:sym typeface="Arial"/>
              </a:rPr>
              <a:t>quantile regression</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050"/>
              <a:buFont typeface="Arial"/>
              <a:buNone/>
            </a:pPr>
            <a:r>
              <a:rPr b="0" i="0" lang="en-US" sz="1050" u="none" cap="none" strike="noStrike">
                <a:solidFill>
                  <a:srgbClr val="6A6A6A"/>
                </a:solidFill>
                <a:latin typeface="Arial"/>
                <a:ea typeface="Arial"/>
                <a:cs typeface="Arial"/>
                <a:sym typeface="Arial"/>
              </a:rPr>
              <a:t>on u/s phase portrait</a:t>
            </a:r>
            <a:endParaRPr b="0" i="0" sz="1250" u="none" cap="none" strike="noStrike">
              <a:solidFill>
                <a:schemeClr val="dk1"/>
              </a:solidFill>
              <a:latin typeface="Calibri"/>
              <a:ea typeface="Calibri"/>
              <a:cs typeface="Calibri"/>
              <a:sym typeface="Calibri"/>
            </a:endParaRPr>
          </a:p>
        </p:txBody>
      </p:sp>
      <p:cxnSp>
        <p:nvCxnSpPr>
          <p:cNvPr id="86" name="Google Shape;86;p8"/>
          <p:cNvCxnSpPr/>
          <p:nvPr/>
        </p:nvCxnSpPr>
        <p:spPr>
          <a:xfrm>
            <a:off x="8732520" y="2308860"/>
            <a:ext cx="320040" cy="0"/>
          </a:xfrm>
          <a:prstGeom prst="straightConnector1">
            <a:avLst/>
          </a:prstGeom>
          <a:noFill/>
          <a:ln cap="flat" cmpd="sng" w="25400">
            <a:solidFill>
              <a:srgbClr val="000000"/>
            </a:solidFill>
            <a:prstDash val="solid"/>
            <a:round/>
            <a:headEnd len="sm" w="sm" type="none"/>
            <a:tailEnd len="med" w="med" type="triangle"/>
          </a:ln>
        </p:spPr>
      </p:cxnSp>
      <p:sp>
        <p:nvSpPr>
          <p:cNvPr id="87" name="Google Shape;87;p8"/>
          <p:cNvSpPr/>
          <p:nvPr/>
        </p:nvSpPr>
        <p:spPr>
          <a:xfrm>
            <a:off x="9052560" y="1783080"/>
            <a:ext cx="2514600" cy="1051560"/>
          </a:xfrm>
          <a:prstGeom prst="roundRect">
            <a:avLst>
              <a:gd fmla="val 6087" name="adj"/>
            </a:avLst>
          </a:prstGeom>
          <a:solidFill>
            <a:srgbClr val="F2F2F2"/>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9052560" y="1783080"/>
            <a:ext cx="2514600" cy="10515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Γ̂ = β · ũ / s̃</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111111"/>
              </a:buClr>
              <a:buSzPts val="1050"/>
              <a:buFont typeface="Arial"/>
              <a:buNone/>
            </a:pPr>
            <a:r>
              <a:rPr b="0" i="0" lang="en-US" sz="1050" u="none" cap="none" strike="noStrike">
                <a:solidFill>
                  <a:srgbClr val="111111"/>
                </a:solidFill>
                <a:latin typeface="Arial"/>
                <a:ea typeface="Arial"/>
                <a:cs typeface="Arial"/>
                <a:sym typeface="Arial"/>
              </a:rPr>
              <a:t>per-cell × per-gene</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050"/>
              <a:buFont typeface="Arial"/>
              <a:buNone/>
            </a:pPr>
            <a:r>
              <a:rPr b="0" i="0" lang="en-US" sz="1050" u="none" cap="none" strike="noStrike">
                <a:solidFill>
                  <a:srgbClr val="6A6A6A"/>
                </a:solidFill>
                <a:latin typeface="Arial"/>
                <a:ea typeface="Arial"/>
                <a:cs typeface="Arial"/>
                <a:sym typeface="Arial"/>
              </a:rPr>
              <a:t>degradation matrix</a:t>
            </a:r>
            <a:endParaRPr b="0" i="0" sz="1250" u="none" cap="none" strike="noStrike">
              <a:solidFill>
                <a:schemeClr val="dk1"/>
              </a:solidFill>
              <a:latin typeface="Calibri"/>
              <a:ea typeface="Calibri"/>
              <a:cs typeface="Calibri"/>
              <a:sym typeface="Calibri"/>
            </a:endParaRPr>
          </a:p>
        </p:txBody>
      </p:sp>
      <p:cxnSp>
        <p:nvCxnSpPr>
          <p:cNvPr id="89" name="Google Shape;89;p8"/>
          <p:cNvCxnSpPr/>
          <p:nvPr/>
        </p:nvCxnSpPr>
        <p:spPr>
          <a:xfrm>
            <a:off x="10309860" y="2834640"/>
            <a:ext cx="0" cy="868680"/>
          </a:xfrm>
          <a:prstGeom prst="straightConnector1">
            <a:avLst/>
          </a:prstGeom>
          <a:noFill/>
          <a:ln cap="flat" cmpd="sng" w="25400">
            <a:solidFill>
              <a:srgbClr val="000000"/>
            </a:solidFill>
            <a:prstDash val="solid"/>
            <a:round/>
            <a:headEnd len="sm" w="sm" type="none"/>
            <a:tailEnd len="sm" w="sm" type="none"/>
          </a:ln>
        </p:spPr>
      </p:cxnSp>
      <p:cxnSp>
        <p:nvCxnSpPr>
          <p:cNvPr id="90" name="Google Shape;90;p8"/>
          <p:cNvCxnSpPr/>
          <p:nvPr/>
        </p:nvCxnSpPr>
        <p:spPr>
          <a:xfrm>
            <a:off x="1805940" y="3703320"/>
            <a:ext cx="8503920" cy="0"/>
          </a:xfrm>
          <a:prstGeom prst="straightConnector1">
            <a:avLst/>
          </a:prstGeom>
          <a:noFill/>
          <a:ln cap="flat" cmpd="sng" w="25400">
            <a:solidFill>
              <a:srgbClr val="000000"/>
            </a:solidFill>
            <a:prstDash val="solid"/>
            <a:round/>
            <a:headEnd len="sm" w="sm" type="none"/>
            <a:tailEnd len="sm" w="sm" type="none"/>
          </a:ln>
        </p:spPr>
      </p:cxnSp>
      <p:cxnSp>
        <p:nvCxnSpPr>
          <p:cNvPr id="91" name="Google Shape;91;p8"/>
          <p:cNvCxnSpPr/>
          <p:nvPr/>
        </p:nvCxnSpPr>
        <p:spPr>
          <a:xfrm>
            <a:off x="1805940" y="3703320"/>
            <a:ext cx="0" cy="320040"/>
          </a:xfrm>
          <a:prstGeom prst="straightConnector1">
            <a:avLst/>
          </a:prstGeom>
          <a:noFill/>
          <a:ln cap="flat" cmpd="sng" w="25400">
            <a:solidFill>
              <a:srgbClr val="000000"/>
            </a:solidFill>
            <a:prstDash val="solid"/>
            <a:round/>
            <a:headEnd len="sm" w="sm" type="none"/>
            <a:tailEnd len="med" w="med" type="triangle"/>
          </a:ln>
        </p:spPr>
      </p:cxnSp>
      <p:cxnSp>
        <p:nvCxnSpPr>
          <p:cNvPr id="92" name="Google Shape;92;p8"/>
          <p:cNvCxnSpPr/>
          <p:nvPr/>
        </p:nvCxnSpPr>
        <p:spPr>
          <a:xfrm>
            <a:off x="4640580" y="3703320"/>
            <a:ext cx="0" cy="320040"/>
          </a:xfrm>
          <a:prstGeom prst="straightConnector1">
            <a:avLst/>
          </a:prstGeom>
          <a:noFill/>
          <a:ln cap="flat" cmpd="sng" w="25400">
            <a:solidFill>
              <a:srgbClr val="000000"/>
            </a:solidFill>
            <a:prstDash val="solid"/>
            <a:round/>
            <a:headEnd len="sm" w="sm" type="none"/>
            <a:tailEnd len="med" w="med" type="triangle"/>
          </a:ln>
        </p:spPr>
      </p:cxnSp>
      <p:cxnSp>
        <p:nvCxnSpPr>
          <p:cNvPr id="93" name="Google Shape;93;p8"/>
          <p:cNvCxnSpPr/>
          <p:nvPr/>
        </p:nvCxnSpPr>
        <p:spPr>
          <a:xfrm>
            <a:off x="7475220" y="3703320"/>
            <a:ext cx="0" cy="320040"/>
          </a:xfrm>
          <a:prstGeom prst="straightConnector1">
            <a:avLst/>
          </a:prstGeom>
          <a:noFill/>
          <a:ln cap="flat" cmpd="sng" w="25400">
            <a:solidFill>
              <a:srgbClr val="000000"/>
            </a:solidFill>
            <a:prstDash val="solid"/>
            <a:round/>
            <a:headEnd len="sm" w="sm" type="none"/>
            <a:tailEnd len="med" w="med" type="triangle"/>
          </a:ln>
        </p:spPr>
      </p:cxnSp>
      <p:cxnSp>
        <p:nvCxnSpPr>
          <p:cNvPr id="94" name="Google Shape;94;p8"/>
          <p:cNvCxnSpPr/>
          <p:nvPr/>
        </p:nvCxnSpPr>
        <p:spPr>
          <a:xfrm>
            <a:off x="10309860" y="3703320"/>
            <a:ext cx="0" cy="320040"/>
          </a:xfrm>
          <a:prstGeom prst="straightConnector1">
            <a:avLst/>
          </a:prstGeom>
          <a:noFill/>
          <a:ln cap="flat" cmpd="sng" w="25400">
            <a:solidFill>
              <a:srgbClr val="000000"/>
            </a:solidFill>
            <a:prstDash val="solid"/>
            <a:round/>
            <a:headEnd len="sm" w="sm" type="none"/>
            <a:tailEnd len="med" w="med" type="triangle"/>
          </a:ln>
        </p:spPr>
      </p:cxnSp>
      <p:sp>
        <p:nvSpPr>
          <p:cNvPr id="95" name="Google Shape;95;p8"/>
          <p:cNvSpPr/>
          <p:nvPr/>
        </p:nvSpPr>
        <p:spPr>
          <a:xfrm>
            <a:off x="548640" y="4114800"/>
            <a:ext cx="2514600" cy="1280160"/>
          </a:xfrm>
          <a:prstGeom prst="roundRect">
            <a:avLst>
              <a:gd fmla="val 5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8"/>
          <p:cNvSpPr/>
          <p:nvPr/>
        </p:nvSpPr>
        <p:spPr>
          <a:xfrm>
            <a:off x="548640" y="4114800"/>
            <a:ext cx="2514600" cy="12801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Variance decomp.</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TF vs PTF per gene</a:t>
            </a:r>
            <a:endParaRPr b="0" i="0" sz="1250" u="none" cap="none" strike="noStrike">
              <a:solidFill>
                <a:schemeClr val="dk1"/>
              </a:solidFill>
              <a:latin typeface="Calibri"/>
              <a:ea typeface="Calibri"/>
              <a:cs typeface="Calibri"/>
              <a:sym typeface="Calibri"/>
            </a:endParaRPr>
          </a:p>
        </p:txBody>
      </p:sp>
      <p:sp>
        <p:nvSpPr>
          <p:cNvPr id="97" name="Google Shape;97;p8"/>
          <p:cNvSpPr/>
          <p:nvPr/>
        </p:nvSpPr>
        <p:spPr>
          <a:xfrm>
            <a:off x="3383280" y="4114800"/>
            <a:ext cx="2514600" cy="1280160"/>
          </a:xfrm>
          <a:prstGeom prst="roundRect">
            <a:avLst>
              <a:gd fmla="val 5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8"/>
          <p:cNvSpPr/>
          <p:nvPr/>
        </p:nvSpPr>
        <p:spPr>
          <a:xfrm>
            <a:off x="3383280" y="4114800"/>
            <a:ext cx="2514600" cy="12801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PT states</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Leiden in γ-space</a:t>
            </a:r>
            <a:endParaRPr b="0" i="0" sz="1250" u="none" cap="none" strike="noStrike">
              <a:solidFill>
                <a:schemeClr val="dk1"/>
              </a:solidFill>
              <a:latin typeface="Calibri"/>
              <a:ea typeface="Calibri"/>
              <a:cs typeface="Calibri"/>
              <a:sym typeface="Calibri"/>
            </a:endParaRPr>
          </a:p>
        </p:txBody>
      </p:sp>
      <p:sp>
        <p:nvSpPr>
          <p:cNvPr id="99" name="Google Shape;99;p8"/>
          <p:cNvSpPr/>
          <p:nvPr/>
        </p:nvSpPr>
        <p:spPr>
          <a:xfrm>
            <a:off x="6217920" y="4114800"/>
            <a:ext cx="2514600" cy="1280160"/>
          </a:xfrm>
          <a:prstGeom prst="roundRect">
            <a:avLst>
              <a:gd fmla="val 5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8"/>
          <p:cNvSpPr/>
          <p:nvPr/>
        </p:nvSpPr>
        <p:spPr>
          <a:xfrm>
            <a:off x="6217920" y="4114800"/>
            <a:ext cx="2514600" cy="12801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PT velocity</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100"/>
              <a:buFont typeface="Arial"/>
              <a:buNone/>
            </a:pPr>
            <a:r>
              <a:rPr b="0" i="0" lang="en-US" sz="1100" u="none" cap="none" strike="noStrike">
                <a:solidFill>
                  <a:srgbClr val="6A6A6A"/>
                </a:solidFill>
                <a:latin typeface="Arial"/>
                <a:ea typeface="Arial"/>
                <a:cs typeface="Arial"/>
                <a:sym typeface="Arial"/>
              </a:rPr>
              <a:t>γ gradient field</a:t>
            </a:r>
            <a:endParaRPr b="0" i="0" sz="1250" u="none" cap="none" strike="noStrike">
              <a:solidFill>
                <a:schemeClr val="dk1"/>
              </a:solidFill>
              <a:latin typeface="Calibri"/>
              <a:ea typeface="Calibri"/>
              <a:cs typeface="Calibri"/>
              <a:sym typeface="Calibri"/>
            </a:endParaRPr>
          </a:p>
        </p:txBody>
      </p:sp>
      <p:sp>
        <p:nvSpPr>
          <p:cNvPr id="101" name="Google Shape;101;p8"/>
          <p:cNvSpPr/>
          <p:nvPr/>
        </p:nvSpPr>
        <p:spPr>
          <a:xfrm>
            <a:off x="9052560" y="4114800"/>
            <a:ext cx="2514600" cy="1280160"/>
          </a:xfrm>
          <a:prstGeom prst="roundRect">
            <a:avLst>
              <a:gd fmla="val 5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8"/>
          <p:cNvSpPr/>
          <p:nvPr/>
        </p:nvSpPr>
        <p:spPr>
          <a:xfrm>
            <a:off x="9052560" y="4114800"/>
            <a:ext cx="2514600" cy="1280160"/>
          </a:xfrm>
          <a:prstGeom prst="rect">
            <a:avLst/>
          </a:prstGeom>
          <a:noFill/>
          <a:ln>
            <a:noFill/>
          </a:ln>
        </p:spPr>
        <p:txBody>
          <a:bodyPr anchorCtr="0" anchor="ctr" bIns="0" lIns="0" spcFirstLastPara="1" rIns="0" wrap="square" tIns="0">
            <a:noAutofit/>
          </a:bodyPr>
          <a:lstStyle/>
          <a:p>
            <a:pPr indent="0" lvl="0" marL="0" marR="0" rtl="0" algn="ctr">
              <a:lnSpc>
                <a:spcPct val="106000"/>
              </a:lnSpc>
              <a:spcBef>
                <a:spcPts val="0"/>
              </a:spcBef>
              <a:spcAft>
                <a:spcPts val="0"/>
              </a:spcAft>
              <a:buClr>
                <a:srgbClr val="111111"/>
              </a:buClr>
              <a:buSzPts val="1250"/>
              <a:buFont typeface="Arial"/>
              <a:buNone/>
            </a:pPr>
            <a:r>
              <a:rPr b="1" i="0" lang="en-US" sz="1250" u="none" cap="none" strike="noStrike">
                <a:solidFill>
                  <a:srgbClr val="111111"/>
                </a:solidFill>
                <a:latin typeface="Arial"/>
                <a:ea typeface="Arial"/>
                <a:cs typeface="Arial"/>
                <a:sym typeface="Arial"/>
              </a:rPr>
              <a:t>RBP network</a:t>
            </a:r>
            <a:endParaRPr b="0" i="0" sz="1250" u="none" cap="none" strike="noStrike">
              <a:solidFill>
                <a:schemeClr val="dk1"/>
              </a:solidFill>
              <a:latin typeface="Calibri"/>
              <a:ea typeface="Calibri"/>
              <a:cs typeface="Calibri"/>
              <a:sym typeface="Calibri"/>
            </a:endParaRPr>
          </a:p>
          <a:p>
            <a:pPr indent="0" lvl="0" marL="0" marR="0" rtl="0" algn="ctr">
              <a:lnSpc>
                <a:spcPct val="106000"/>
              </a:lnSpc>
              <a:spcBef>
                <a:spcPts val="0"/>
              </a:spcBef>
              <a:spcAft>
                <a:spcPts val="0"/>
              </a:spcAft>
              <a:buClr>
                <a:srgbClr val="6A6A6A"/>
              </a:buClr>
              <a:buSzPts val="1050"/>
              <a:buFont typeface="Arial"/>
              <a:buNone/>
            </a:pPr>
            <a:r>
              <a:rPr b="0" i="0" lang="en-US" sz="1050" u="none" cap="none" strike="noStrike">
                <a:solidFill>
                  <a:srgbClr val="6A6A6A"/>
                </a:solidFill>
                <a:latin typeface="Arial"/>
                <a:ea typeface="Arial"/>
                <a:cs typeface="Arial"/>
                <a:sym typeface="Arial"/>
              </a:rPr>
              <a:t>lib-size-corrected elastic net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7" name="Shape 107"/>
        <p:cNvGrpSpPr/>
        <p:nvPr/>
      </p:nvGrpSpPr>
      <p:grpSpPr>
        <a:xfrm>
          <a:off x="0" y="0"/>
          <a:ext cx="0" cy="0"/>
          <a:chOff x="0" y="0"/>
          <a:chExt cx="0" cy="0"/>
        </a:xfrm>
      </p:grpSpPr>
      <p:sp>
        <p:nvSpPr>
          <p:cNvPr id="108" name="Google Shape;108;p9"/>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A robust per-cell γ estimator</a:t>
            </a:r>
            <a:endParaRPr b="0" i="0" sz="3000" u="none" cap="none" strike="noStrike">
              <a:solidFill>
                <a:schemeClr val="dk1"/>
              </a:solidFill>
              <a:latin typeface="Calibri"/>
              <a:ea typeface="Calibri"/>
              <a:cs typeface="Calibri"/>
              <a:sym typeface="Calibri"/>
            </a:endParaRPr>
          </a:p>
        </p:txBody>
      </p:sp>
      <p:sp>
        <p:nvSpPr>
          <p:cNvPr id="109" name="Google Shape;109;p9"/>
          <p:cNvSpPr/>
          <p:nvPr/>
        </p:nvSpPr>
        <p:spPr>
          <a:xfrm>
            <a:off x="594360" y="1874520"/>
            <a:ext cx="502920" cy="50292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9"/>
          <p:cNvSpPr/>
          <p:nvPr/>
        </p:nvSpPr>
        <p:spPr>
          <a:xfrm>
            <a:off x="594360" y="187452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1</a:t>
            </a:r>
            <a:endParaRPr b="0" i="0" sz="1800" u="none" cap="none" strike="noStrike">
              <a:solidFill>
                <a:schemeClr val="dk1"/>
              </a:solidFill>
              <a:latin typeface="Calibri"/>
              <a:ea typeface="Calibri"/>
              <a:cs typeface="Calibri"/>
              <a:sym typeface="Calibri"/>
            </a:endParaRPr>
          </a:p>
        </p:txBody>
      </p:sp>
      <p:sp>
        <p:nvSpPr>
          <p:cNvPr id="111" name="Google Shape;111;p9"/>
          <p:cNvSpPr/>
          <p:nvPr/>
        </p:nvSpPr>
        <p:spPr>
          <a:xfrm>
            <a:off x="1280160" y="185623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βᵧ by robust quantile regression</a:t>
            </a:r>
            <a:endParaRPr b="0" i="0" sz="1800" u="none" cap="none" strike="noStrike">
              <a:solidFill>
                <a:schemeClr val="dk1"/>
              </a:solidFill>
              <a:latin typeface="Calibri"/>
              <a:ea typeface="Calibri"/>
              <a:cs typeface="Calibri"/>
              <a:sym typeface="Calibri"/>
            </a:endParaRPr>
          </a:p>
        </p:txBody>
      </p:sp>
      <p:sp>
        <p:nvSpPr>
          <p:cNvPr id="112" name="Google Shape;112;p9"/>
          <p:cNvSpPr/>
          <p:nvPr/>
        </p:nvSpPr>
        <p:spPr>
          <a:xfrm>
            <a:off x="1280160" y="2258568"/>
            <a:ext cx="4846320" cy="10058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A3A3A"/>
              </a:buClr>
              <a:buSzPts val="1450"/>
              <a:buFont typeface="Arial"/>
              <a:buNone/>
            </a:pPr>
            <a:r>
              <a:rPr b="0" i="0" lang="en-US" sz="1450" u="none" cap="none" strike="noStrike">
                <a:solidFill>
                  <a:srgbClr val="3A3A3A"/>
                </a:solidFill>
                <a:latin typeface="Arial"/>
                <a:ea typeface="Arial"/>
                <a:cs typeface="Arial"/>
                <a:sym typeface="Arial"/>
              </a:rPr>
              <a:t>0.95-quantile slope of the u/s phase portrait through the origin — picks cells at the kinetic ceiling, down-weights the heavy zero mass that biases OLS.</a:t>
            </a:r>
            <a:endParaRPr b="0" i="0" sz="1450" u="none" cap="none" strike="noStrike">
              <a:solidFill>
                <a:schemeClr val="dk1"/>
              </a:solidFill>
              <a:latin typeface="Calibri"/>
              <a:ea typeface="Calibri"/>
              <a:cs typeface="Calibri"/>
              <a:sym typeface="Calibri"/>
            </a:endParaRPr>
          </a:p>
        </p:txBody>
      </p:sp>
      <p:sp>
        <p:nvSpPr>
          <p:cNvPr id="113" name="Google Shape;113;p9"/>
          <p:cNvSpPr/>
          <p:nvPr/>
        </p:nvSpPr>
        <p:spPr>
          <a:xfrm>
            <a:off x="594360" y="3429000"/>
            <a:ext cx="502920" cy="502920"/>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9"/>
          <p:cNvSpPr/>
          <p:nvPr/>
        </p:nvSpPr>
        <p:spPr>
          <a:xfrm>
            <a:off x="594360" y="3429000"/>
            <a:ext cx="502920" cy="5029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800"/>
              <a:buFont typeface="Arial"/>
              <a:buNone/>
            </a:pPr>
            <a:r>
              <a:rPr b="1" i="0" lang="en-US" sz="1800" u="none" cap="none" strike="noStrike">
                <a:solidFill>
                  <a:srgbClr val="FFFFFF"/>
                </a:solidFill>
                <a:latin typeface="Arial"/>
                <a:ea typeface="Arial"/>
                <a:cs typeface="Arial"/>
                <a:sym typeface="Arial"/>
              </a:rPr>
              <a:t>2</a:t>
            </a:r>
            <a:endParaRPr b="0" i="0" sz="1800" u="none" cap="none" strike="noStrike">
              <a:solidFill>
                <a:schemeClr val="dk1"/>
              </a:solidFill>
              <a:latin typeface="Calibri"/>
              <a:ea typeface="Calibri"/>
              <a:cs typeface="Calibri"/>
              <a:sym typeface="Calibri"/>
            </a:endParaRPr>
          </a:p>
        </p:txBody>
      </p:sp>
      <p:sp>
        <p:nvSpPr>
          <p:cNvPr id="115" name="Google Shape;115;p9"/>
          <p:cNvSpPr/>
          <p:nvPr/>
        </p:nvSpPr>
        <p:spPr>
          <a:xfrm>
            <a:off x="1280160" y="3410712"/>
            <a:ext cx="47548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Adaptive-bandwidth kNN smoothing</a:t>
            </a:r>
            <a:endParaRPr b="0" i="0" sz="1800" u="none" cap="none" strike="noStrike">
              <a:solidFill>
                <a:schemeClr val="dk1"/>
              </a:solidFill>
              <a:latin typeface="Calibri"/>
              <a:ea typeface="Calibri"/>
              <a:cs typeface="Calibri"/>
              <a:sym typeface="Calibri"/>
            </a:endParaRPr>
          </a:p>
        </p:txBody>
      </p:sp>
      <p:sp>
        <p:nvSpPr>
          <p:cNvPr id="116" name="Google Shape;116;p9"/>
          <p:cNvSpPr/>
          <p:nvPr/>
        </p:nvSpPr>
        <p:spPr>
          <a:xfrm>
            <a:off x="1280160" y="3813048"/>
            <a:ext cx="4846320" cy="1005840"/>
          </a:xfrm>
          <a:prstGeom prst="rect">
            <a:avLst/>
          </a:prstGeom>
          <a:noFill/>
          <a:ln>
            <a:noFill/>
          </a:ln>
        </p:spPr>
        <p:txBody>
          <a:bodyPr anchorCtr="0" anchor="t" bIns="0" lIns="0" spcFirstLastPara="1" rIns="0" wrap="square" tIns="0">
            <a:noAutofit/>
          </a:bodyPr>
          <a:lstStyle/>
          <a:p>
            <a:pPr indent="0" lvl="0" marL="0" marR="0" rtl="0" algn="l">
              <a:lnSpc>
                <a:spcPct val="108000"/>
              </a:lnSpc>
              <a:spcBef>
                <a:spcPts val="0"/>
              </a:spcBef>
              <a:spcAft>
                <a:spcPts val="0"/>
              </a:spcAft>
              <a:buClr>
                <a:srgbClr val="3A3A3A"/>
              </a:buClr>
              <a:buSzPts val="1450"/>
              <a:buFont typeface="Arial"/>
              <a:buNone/>
            </a:pPr>
            <a:r>
              <a:rPr b="0" i="0" lang="en-US" sz="1450" u="none" cap="none" strike="noStrike">
                <a:solidFill>
                  <a:srgbClr val="3A3A3A"/>
                </a:solidFill>
                <a:latin typeface="Arial"/>
                <a:ea typeface="Arial"/>
                <a:cs typeface="Arial"/>
                <a:sym typeface="Arial"/>
              </a:rPr>
              <a:t>Smooth u and s over each cell's neighbourhood in expression-PCA space; bandwidth adapts to local density (varies 10–100×), denoising sparse zeros without collapsing rare states.</a:t>
            </a:r>
            <a:endParaRPr b="0" i="0" sz="1450" u="none" cap="none" strike="noStrike">
              <a:solidFill>
                <a:schemeClr val="dk1"/>
              </a:solidFill>
              <a:latin typeface="Calibri"/>
              <a:ea typeface="Calibri"/>
              <a:cs typeface="Calibri"/>
              <a:sym typeface="Calibri"/>
            </a:endParaRPr>
          </a:p>
        </p:txBody>
      </p:sp>
      <p:sp>
        <p:nvSpPr>
          <p:cNvPr id="117" name="Google Shape;117;p9"/>
          <p:cNvSpPr/>
          <p:nvPr/>
        </p:nvSpPr>
        <p:spPr>
          <a:xfrm>
            <a:off x="594360" y="4846320"/>
            <a:ext cx="5486400" cy="868680"/>
          </a:xfrm>
          <a:prstGeom prst="roundRect">
            <a:avLst>
              <a:gd fmla="val 8421" name="adj"/>
            </a:avLst>
          </a:prstGeom>
          <a:solidFill>
            <a:srgbClr val="F2F2F2"/>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9"/>
          <p:cNvSpPr/>
          <p:nvPr/>
        </p:nvSpPr>
        <p:spPr>
          <a:xfrm>
            <a:off x="777240" y="4846320"/>
            <a:ext cx="5212080" cy="8686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γ̂</a:t>
            </a:r>
            <a:r>
              <a:rPr b="0" i="0" lang="en-US" sz="1900" u="none" cap="none" strike="noStrike">
                <a:solidFill>
                  <a:srgbClr val="111111"/>
                </a:solidFill>
                <a:latin typeface="Arial"/>
                <a:ea typeface="Arial"/>
                <a:cs typeface="Arial"/>
                <a:sym typeface="Arial"/>
              </a:rPr>
              <a:t>ᵢᵧ = β̂ᵧ · (ū + ε)/(ś + ε)</a:t>
            </a:r>
            <a:r>
              <a:rPr b="0" i="1" lang="en-US" sz="1300" u="none" cap="none" strike="noStrike">
                <a:solidFill>
                  <a:srgbClr val="6A6A6A"/>
                </a:solidFill>
                <a:latin typeface="Arial"/>
                <a:ea typeface="Arial"/>
                <a:cs typeface="Arial"/>
                <a:sym typeface="Arial"/>
              </a:rPr>
              <a:t>   </a:t>
            </a:r>
            <a:endParaRPr b="0" i="0" sz="2000" u="none" cap="none" strike="noStrike">
              <a:solidFill>
                <a:schemeClr val="dk1"/>
              </a:solidFill>
              <a:latin typeface="Calibri"/>
              <a:ea typeface="Calibri"/>
              <a:cs typeface="Calibri"/>
              <a:sym typeface="Calibri"/>
            </a:endParaRPr>
          </a:p>
        </p:txBody>
      </p:sp>
      <p:sp>
        <p:nvSpPr>
          <p:cNvPr id="119" name="Google Shape;119;p9"/>
          <p:cNvSpPr/>
          <p:nvPr/>
        </p:nvSpPr>
        <p:spPr>
          <a:xfrm>
            <a:off x="7269049" y="909788"/>
            <a:ext cx="4599300" cy="5367600"/>
          </a:xfrm>
          <a:prstGeom prst="roundRect">
            <a:avLst>
              <a:gd fmla="val 1782" name="adj"/>
            </a:avLst>
          </a:prstGeom>
          <a:solidFill>
            <a:srgbClr val="FFFFFF"/>
          </a:solidFill>
          <a:ln cap="flat" cmpd="sng" w="16600">
            <a:solidFill>
              <a:srgbClr val="BBBBBB"/>
            </a:solidFill>
            <a:prstDash val="solid"/>
            <a:round/>
            <a:headEnd len="sm" w="sm" type="none"/>
            <a:tailEnd len="sm" w="sm" type="none"/>
          </a:ln>
          <a:effectLst>
            <a:outerShdw blurRad="116222" rotWithShape="0" algn="bl" dir="5400000" dist="33206">
              <a:srgbClr val="000000">
                <a:alpha val="18039"/>
              </a:srgbClr>
            </a:outerShdw>
          </a:effectLst>
        </p:spPr>
        <p:txBody>
          <a:bodyPr anchorCtr="0" anchor="ctr" bIns="119525" lIns="119525" spcFirstLastPara="1" rIns="119525" wrap="square" tIns="119525">
            <a:noAutofit/>
          </a:bodyPr>
          <a:lstStyle/>
          <a:p>
            <a:pPr indent="0" lvl="0" marL="0" rtl="0" algn="l">
              <a:spcBef>
                <a:spcPts val="0"/>
              </a:spcBef>
              <a:spcAft>
                <a:spcPts val="0"/>
              </a:spcAft>
              <a:buNone/>
            </a:pPr>
            <a:r>
              <a:t/>
            </a:r>
            <a:endParaRPr/>
          </a:p>
        </p:txBody>
      </p:sp>
      <p:pic>
        <p:nvPicPr>
          <p:cNvPr descr="figs/f1A.png" id="120" name="Google Shape;120;p9"/>
          <p:cNvPicPr preferRelativeResize="0"/>
          <p:nvPr/>
        </p:nvPicPr>
        <p:blipFill rotWithShape="1">
          <a:blip r:embed="rId3">
            <a:alphaModFix/>
          </a:blip>
          <a:srcRect b="0" l="0" r="0" t="0"/>
          <a:stretch/>
        </p:blipFill>
        <p:spPr>
          <a:xfrm>
            <a:off x="7269051" y="1053235"/>
            <a:ext cx="4455969" cy="5080583"/>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5" name="Shape 125"/>
        <p:cNvGrpSpPr/>
        <p:nvPr/>
      </p:nvGrpSpPr>
      <p:grpSpPr>
        <a:xfrm>
          <a:off x="0" y="0"/>
          <a:ext cx="0" cy="0"/>
          <a:chOff x="0" y="0"/>
          <a:chExt cx="0" cy="0"/>
        </a:xfrm>
      </p:grpSpPr>
      <p:sp>
        <p:nvSpPr>
          <p:cNvPr id="126" name="Google Shape;126;p10"/>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The estimator recovers biologically structured rates</a:t>
            </a:r>
            <a:endParaRPr b="0" i="0" sz="3000" u="none" cap="none" strike="noStrike">
              <a:solidFill>
                <a:schemeClr val="dk1"/>
              </a:solidFill>
              <a:latin typeface="Calibri"/>
              <a:ea typeface="Calibri"/>
              <a:cs typeface="Calibri"/>
              <a:sym typeface="Calibri"/>
            </a:endParaRPr>
          </a:p>
        </p:txBody>
      </p:sp>
      <p:sp>
        <p:nvSpPr>
          <p:cNvPr id="127" name="Google Shape;127;p10"/>
          <p:cNvSpPr/>
          <p:nvPr/>
        </p:nvSpPr>
        <p:spPr>
          <a:xfrm>
            <a:off x="555285" y="1298448"/>
            <a:ext cx="110643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A6A"/>
              </a:buClr>
              <a:buSzPts val="1450"/>
              <a:buFont typeface="Arial"/>
              <a:buNone/>
            </a:pPr>
            <a:r>
              <a:t/>
            </a:r>
            <a:endParaRPr b="0" i="0" sz="1450" u="none" cap="none" strike="noStrike">
              <a:solidFill>
                <a:schemeClr val="dk1"/>
              </a:solidFill>
              <a:latin typeface="Calibri"/>
              <a:ea typeface="Calibri"/>
              <a:cs typeface="Calibri"/>
              <a:sym typeface="Calibri"/>
            </a:endParaRPr>
          </a:p>
        </p:txBody>
      </p:sp>
      <p:sp>
        <p:nvSpPr>
          <p:cNvPr id="128" name="Google Shape;128;p10"/>
          <p:cNvSpPr/>
          <p:nvPr/>
        </p:nvSpPr>
        <p:spPr>
          <a:xfrm>
            <a:off x="362999" y="1325875"/>
            <a:ext cx="11466000" cy="5025900"/>
          </a:xfrm>
          <a:prstGeom prst="roundRect">
            <a:avLst>
              <a:gd fmla="val 1541" name="adj"/>
            </a:avLst>
          </a:prstGeom>
          <a:solidFill>
            <a:srgbClr val="FFFFFF"/>
          </a:solidFill>
          <a:ln cap="flat" cmpd="sng" w="13450">
            <a:solidFill>
              <a:srgbClr val="BBBBBB"/>
            </a:solidFill>
            <a:prstDash val="solid"/>
            <a:round/>
            <a:headEnd len="sm" w="sm" type="none"/>
            <a:tailEnd len="sm" w="sm" type="none"/>
          </a:ln>
          <a:effectLst>
            <a:outerShdw blurRad="94151" rotWithShape="0" algn="bl" dir="5400000" dist="26900">
              <a:srgbClr val="000000">
                <a:alpha val="18039"/>
              </a:srgbClr>
            </a:outerShdw>
          </a:effectLst>
        </p:spPr>
        <p:txBody>
          <a:bodyPr anchorCtr="0" anchor="ctr" bIns="96825" lIns="96825" spcFirstLastPara="1" rIns="96825" wrap="square" tIns="96825">
            <a:noAutofit/>
          </a:bodyPr>
          <a:lstStyle/>
          <a:p>
            <a:pPr indent="0" lvl="0" marL="0" rtl="0" algn="l">
              <a:spcBef>
                <a:spcPts val="0"/>
              </a:spcBef>
              <a:spcAft>
                <a:spcPts val="0"/>
              </a:spcAft>
              <a:buNone/>
            </a:pPr>
            <a:r>
              <a:t/>
            </a:r>
            <a:endParaRPr/>
          </a:p>
        </p:txBody>
      </p:sp>
      <p:pic>
        <p:nvPicPr>
          <p:cNvPr descr="figs/pres/fig6_rates.png" id="129" name="Google Shape;129;p10"/>
          <p:cNvPicPr preferRelativeResize="0"/>
          <p:nvPr/>
        </p:nvPicPr>
        <p:blipFill rotWithShape="1">
          <a:blip r:embed="rId3">
            <a:alphaModFix/>
          </a:blip>
          <a:srcRect b="0" l="0" r="0" t="0"/>
          <a:stretch/>
        </p:blipFill>
        <p:spPr>
          <a:xfrm>
            <a:off x="493285" y="1442085"/>
            <a:ext cx="11233584" cy="479364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11"/>
          <p:cNvSpPr/>
          <p:nvPr/>
        </p:nvSpPr>
        <p:spPr>
          <a:xfrm>
            <a:off x="548640" y="457200"/>
            <a:ext cx="11064300" cy="868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lang="en-US" sz="3000">
                <a:solidFill>
                  <a:srgbClr val="111111"/>
                </a:solidFill>
              </a:rPr>
              <a:t>Datasets and Benchmarks</a:t>
            </a:r>
            <a:endParaRPr b="0" i="0" sz="3000" u="none" cap="none" strike="noStrike">
              <a:solidFill>
                <a:schemeClr val="dk1"/>
              </a:solidFill>
              <a:latin typeface="Calibri"/>
              <a:ea typeface="Calibri"/>
              <a:cs typeface="Calibri"/>
              <a:sym typeface="Calibri"/>
            </a:endParaRPr>
          </a:p>
        </p:txBody>
      </p:sp>
      <p:sp>
        <p:nvSpPr>
          <p:cNvPr id="136" name="Google Shape;136;p11"/>
          <p:cNvSpPr txBox="1"/>
          <p:nvPr/>
        </p:nvSpPr>
        <p:spPr>
          <a:xfrm>
            <a:off x="548650" y="1530250"/>
            <a:ext cx="5962800" cy="3639600"/>
          </a:xfrm>
          <a:prstGeom prst="rect">
            <a:avLst/>
          </a:prstGeom>
          <a:noFill/>
          <a:ln>
            <a:noFill/>
          </a:ln>
        </p:spPr>
        <p:txBody>
          <a:bodyPr anchorCtr="0" anchor="t" bIns="91425" lIns="91425" spcFirstLastPara="1" rIns="91425" wrap="square" tIns="91425">
            <a:spAutoFit/>
          </a:bodyPr>
          <a:lstStyle/>
          <a:p>
            <a:pPr indent="-365125" lvl="0" marL="457200" rtl="0" algn="l">
              <a:lnSpc>
                <a:spcPct val="118000"/>
              </a:lnSpc>
              <a:spcBef>
                <a:spcPts val="0"/>
              </a:spcBef>
              <a:spcAft>
                <a:spcPts val="0"/>
              </a:spcAft>
              <a:buClr>
                <a:srgbClr val="111111"/>
              </a:buClr>
              <a:buSzPts val="2150"/>
              <a:buChar char="•"/>
            </a:pPr>
            <a:r>
              <a:rPr lang="en-US" sz="2150">
                <a:solidFill>
                  <a:srgbClr val="111111"/>
                </a:solidFill>
              </a:rPr>
              <a:t>Pancreas 3,696c · Dentate gyrus 2,930c · A549 7,404c · sci-fate 4sU 6,680c (Cao et al., 2020) · Neuroblastoma (Dong et al., 2020)</a:t>
            </a:r>
            <a:endParaRPr sz="2150">
              <a:solidFill>
                <a:srgbClr val="111111"/>
              </a:solidFill>
            </a:endParaRPr>
          </a:p>
          <a:p>
            <a:pPr indent="-365125" lvl="0" marL="457200" rtl="0" algn="l">
              <a:lnSpc>
                <a:spcPct val="118000"/>
              </a:lnSpc>
              <a:spcBef>
                <a:spcPts val="0"/>
              </a:spcBef>
              <a:spcAft>
                <a:spcPts val="0"/>
              </a:spcAft>
              <a:buClr>
                <a:srgbClr val="111111"/>
              </a:buClr>
              <a:buSzPts val="2150"/>
              <a:buChar char="•"/>
            </a:pPr>
            <a:r>
              <a:rPr lang="en-US" sz="2150">
                <a:solidFill>
                  <a:srgbClr val="111111"/>
                </a:solidFill>
              </a:rPr>
              <a:t>References: (Schofield et al., 2018), (Herzog et al., 2017)</a:t>
            </a:r>
            <a:endParaRPr sz="2150">
              <a:solidFill>
                <a:srgbClr val="111111"/>
              </a:solidFill>
            </a:endParaRPr>
          </a:p>
          <a:p>
            <a:pPr indent="-365125" lvl="0" marL="457200" rtl="0" algn="l">
              <a:lnSpc>
                <a:spcPct val="118000"/>
              </a:lnSpc>
              <a:spcBef>
                <a:spcPts val="0"/>
              </a:spcBef>
              <a:spcAft>
                <a:spcPts val="0"/>
              </a:spcAft>
              <a:buClr>
                <a:srgbClr val="111111"/>
              </a:buClr>
              <a:buSzPts val="2150"/>
              <a:buChar char="•"/>
            </a:pPr>
            <a:r>
              <a:rPr lang="en-US" sz="2150">
                <a:solidFill>
                  <a:srgbClr val="111111"/>
                </a:solidFill>
              </a:rPr>
              <a:t>Baselines: scVelo (Bergen et al., 2020) · velVI (Gayoso et al., 2024) · UniTVelo (Gao et al., 2022)</a:t>
            </a:r>
            <a:endParaRPr sz="2150">
              <a:solidFill>
                <a:srgbClr val="111111"/>
              </a:solidFill>
            </a:endParaRPr>
          </a:p>
        </p:txBody>
      </p:sp>
      <p:pic>
        <p:nvPicPr>
          <p:cNvPr id="137" name="Google Shape;137;p11"/>
          <p:cNvPicPr preferRelativeResize="0"/>
          <p:nvPr/>
        </p:nvPicPr>
        <p:blipFill rotWithShape="1">
          <a:blip r:embed="rId3">
            <a:alphaModFix/>
          </a:blip>
          <a:srcRect b="23350" l="0" r="52077" t="18997"/>
          <a:stretch/>
        </p:blipFill>
        <p:spPr>
          <a:xfrm>
            <a:off x="6663825" y="1744075"/>
            <a:ext cx="5381601" cy="336985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2" name="Shape 142"/>
        <p:cNvGrpSpPr/>
        <p:nvPr/>
      </p:nvGrpSpPr>
      <p:grpSpPr>
        <a:xfrm>
          <a:off x="0" y="0"/>
          <a:ext cx="0" cy="0"/>
          <a:chOff x="0" y="0"/>
          <a:chExt cx="0" cy="0"/>
        </a:xfrm>
      </p:grpSpPr>
      <p:sp>
        <p:nvSpPr>
          <p:cNvPr id="143" name="Google Shape;143;p12"/>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Two engines</a:t>
            </a:r>
            <a:endParaRPr b="0" i="0" sz="3000" u="none" cap="none" strike="noStrike">
              <a:solidFill>
                <a:schemeClr val="dk1"/>
              </a:solidFill>
              <a:latin typeface="Calibri"/>
              <a:ea typeface="Calibri"/>
              <a:cs typeface="Calibri"/>
              <a:sym typeface="Calibri"/>
            </a:endParaRPr>
          </a:p>
        </p:txBody>
      </p:sp>
      <p:sp>
        <p:nvSpPr>
          <p:cNvPr id="144" name="Google Shape;144;p12"/>
          <p:cNvSpPr/>
          <p:nvPr/>
        </p:nvSpPr>
        <p:spPr>
          <a:xfrm>
            <a:off x="3108960" y="1691640"/>
            <a:ext cx="5943600" cy="822960"/>
          </a:xfrm>
          <a:prstGeom prst="roundRect">
            <a:avLst>
              <a:gd fmla="val 11111" name="adj"/>
            </a:avLst>
          </a:prstGeom>
          <a:solidFill>
            <a:srgbClr val="F2F2F2"/>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2"/>
          <p:cNvSpPr/>
          <p:nvPr/>
        </p:nvSpPr>
        <p:spPr>
          <a:xfrm>
            <a:off x="3108960" y="1691640"/>
            <a:ext cx="5943600" cy="8229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200"/>
              <a:buFont typeface="Arial"/>
              <a:buNone/>
            </a:pPr>
            <a:r>
              <a:rPr b="1" i="0" lang="en-US" sz="2200" u="none" cap="none" strike="noStrike">
                <a:solidFill>
                  <a:srgbClr val="000000"/>
                </a:solidFill>
                <a:latin typeface="Arial"/>
                <a:ea typeface="Arial"/>
                <a:cs typeface="Arial"/>
                <a:sym typeface="Arial"/>
              </a:rPr>
              <a:t>γ · s = β · u</a:t>
            </a:r>
            <a:r>
              <a:rPr b="0" i="0" lang="en-US" sz="2000" u="none" cap="none" strike="noStrike">
                <a:solidFill>
                  <a:srgbClr val="111111"/>
                </a:solidFill>
                <a:latin typeface="Arial"/>
                <a:ea typeface="Arial"/>
                <a:cs typeface="Arial"/>
                <a:sym typeface="Arial"/>
              </a:rPr>
              <a:t>   ⇒   γ = β · u / s   </a:t>
            </a:r>
            <a:endParaRPr b="0" i="0" sz="2200" u="none" cap="none" strike="noStrike">
              <a:solidFill>
                <a:schemeClr val="dk1"/>
              </a:solidFill>
              <a:latin typeface="Calibri"/>
              <a:ea typeface="Calibri"/>
              <a:cs typeface="Calibri"/>
              <a:sym typeface="Calibri"/>
            </a:endParaRPr>
          </a:p>
        </p:txBody>
      </p:sp>
      <p:sp>
        <p:nvSpPr>
          <p:cNvPr id="146" name="Google Shape;146;p12"/>
          <p:cNvSpPr/>
          <p:nvPr/>
        </p:nvSpPr>
        <p:spPr>
          <a:xfrm>
            <a:off x="594360" y="2788920"/>
            <a:ext cx="5349240" cy="2788920"/>
          </a:xfrm>
          <a:prstGeom prst="roundRect">
            <a:avLst>
              <a:gd fmla="val 2951"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2"/>
          <p:cNvSpPr/>
          <p:nvPr/>
        </p:nvSpPr>
        <p:spPr>
          <a:xfrm>
            <a:off x="914400" y="3017520"/>
            <a:ext cx="4709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Analytic estimator</a:t>
            </a:r>
            <a:endParaRPr b="0" i="0" sz="2000" u="none" cap="none" strike="noStrike">
              <a:solidFill>
                <a:schemeClr val="dk1"/>
              </a:solidFill>
              <a:latin typeface="Calibri"/>
              <a:ea typeface="Calibri"/>
              <a:cs typeface="Calibri"/>
              <a:sym typeface="Calibri"/>
            </a:endParaRPr>
          </a:p>
        </p:txBody>
      </p:sp>
      <p:sp>
        <p:nvSpPr>
          <p:cNvPr id="148" name="Google Shape;148;p12"/>
          <p:cNvSpPr/>
          <p:nvPr/>
        </p:nvSpPr>
        <p:spPr>
          <a:xfrm>
            <a:off x="914400" y="3456432"/>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A6A"/>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149" name="Google Shape;149;p12"/>
          <p:cNvSpPr/>
          <p:nvPr/>
        </p:nvSpPr>
        <p:spPr>
          <a:xfrm>
            <a:off x="891538" y="3687775"/>
            <a:ext cx="4755000" cy="1600200"/>
          </a:xfrm>
          <a:prstGeom prst="rect">
            <a:avLst/>
          </a:prstGeom>
          <a:noFill/>
          <a:ln>
            <a:noFill/>
          </a:ln>
        </p:spPr>
        <p:txBody>
          <a:bodyPr anchorCtr="0" anchor="t" bIns="0" lIns="0" spcFirstLastPara="1" rIns="0" wrap="square" tIns="0">
            <a:noAutofit/>
          </a:bodyPr>
          <a:lstStyle/>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β by 0.95-quantile regression on u/s</a:t>
            </a:r>
            <a:endParaRPr b="0" i="0" sz="2150" u="none" cap="none" strike="noStrike">
              <a:solidFill>
                <a:schemeClr val="dk1"/>
              </a:solidFill>
              <a:latin typeface="Calibri"/>
              <a:ea typeface="Calibri"/>
              <a:cs typeface="Calibri"/>
              <a:sym typeface="Calibri"/>
            </a:endParaRPr>
          </a:p>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Adaptive-bandwidth kNN smoothing</a:t>
            </a:r>
            <a:endParaRPr b="0" i="0" sz="2150" u="none" cap="none" strike="noStrike">
              <a:solidFill>
                <a:schemeClr val="dk1"/>
              </a:solidFill>
              <a:latin typeface="Calibri"/>
              <a:ea typeface="Calibri"/>
              <a:cs typeface="Calibri"/>
              <a:sym typeface="Calibri"/>
            </a:endParaRPr>
          </a:p>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Point estimate of the Γ̂ matrix</a:t>
            </a:r>
            <a:endParaRPr b="0" i="0" sz="2150" u="none" cap="none" strike="noStrike">
              <a:solidFill>
                <a:schemeClr val="dk1"/>
              </a:solidFill>
              <a:latin typeface="Calibri"/>
              <a:ea typeface="Calibri"/>
              <a:cs typeface="Calibri"/>
              <a:sym typeface="Calibri"/>
            </a:endParaRPr>
          </a:p>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Drives all downstream analyses</a:t>
            </a:r>
            <a:endParaRPr b="0" i="0" sz="2150" u="none" cap="none" strike="noStrike">
              <a:solidFill>
                <a:schemeClr val="dk1"/>
              </a:solidFill>
              <a:latin typeface="Calibri"/>
              <a:ea typeface="Calibri"/>
              <a:cs typeface="Calibri"/>
              <a:sym typeface="Calibri"/>
            </a:endParaRPr>
          </a:p>
        </p:txBody>
      </p:sp>
      <p:sp>
        <p:nvSpPr>
          <p:cNvPr id="150" name="Google Shape;150;p12"/>
          <p:cNvSpPr/>
          <p:nvPr/>
        </p:nvSpPr>
        <p:spPr>
          <a:xfrm>
            <a:off x="6263640" y="2788920"/>
            <a:ext cx="5349240" cy="2788920"/>
          </a:xfrm>
          <a:prstGeom prst="roundRect">
            <a:avLst>
              <a:gd fmla="val 2951"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2"/>
          <p:cNvSpPr/>
          <p:nvPr/>
        </p:nvSpPr>
        <p:spPr>
          <a:xfrm>
            <a:off x="6583680" y="3017520"/>
            <a:ext cx="470916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2000"/>
              <a:buFont typeface="Arial"/>
              <a:buNone/>
            </a:pPr>
            <a:r>
              <a:rPr b="1" i="0" lang="en-US" sz="2000" u="none" cap="none" strike="noStrike">
                <a:solidFill>
                  <a:srgbClr val="111111"/>
                </a:solidFill>
                <a:latin typeface="Arial"/>
                <a:ea typeface="Arial"/>
                <a:cs typeface="Arial"/>
                <a:sym typeface="Arial"/>
              </a:rPr>
              <a:t>DeepPTR — generative</a:t>
            </a:r>
            <a:endParaRPr b="0" i="0" sz="2000" u="none" cap="none" strike="noStrike">
              <a:solidFill>
                <a:schemeClr val="dk1"/>
              </a:solidFill>
              <a:latin typeface="Calibri"/>
              <a:ea typeface="Calibri"/>
              <a:cs typeface="Calibri"/>
              <a:sym typeface="Calibri"/>
            </a:endParaRPr>
          </a:p>
        </p:txBody>
      </p:sp>
      <p:sp>
        <p:nvSpPr>
          <p:cNvPr id="152" name="Google Shape;152;p12"/>
          <p:cNvSpPr/>
          <p:nvPr/>
        </p:nvSpPr>
        <p:spPr>
          <a:xfrm>
            <a:off x="6583680" y="3456432"/>
            <a:ext cx="470916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A6A"/>
              </a:buClr>
              <a:buSzPts val="1300"/>
              <a:buFont typeface="Arial"/>
              <a:buNone/>
            </a:pPr>
            <a:r>
              <a:t/>
            </a:r>
            <a:endParaRPr b="0" i="0" sz="1300" u="none" cap="none" strike="noStrike">
              <a:solidFill>
                <a:schemeClr val="dk1"/>
              </a:solidFill>
              <a:latin typeface="Calibri"/>
              <a:ea typeface="Calibri"/>
              <a:cs typeface="Calibri"/>
              <a:sym typeface="Calibri"/>
            </a:endParaRPr>
          </a:p>
        </p:txBody>
      </p:sp>
      <p:sp>
        <p:nvSpPr>
          <p:cNvPr id="153" name="Google Shape;153;p12"/>
          <p:cNvSpPr/>
          <p:nvPr/>
        </p:nvSpPr>
        <p:spPr>
          <a:xfrm>
            <a:off x="6583680" y="3638171"/>
            <a:ext cx="4755000" cy="1600200"/>
          </a:xfrm>
          <a:prstGeom prst="rect">
            <a:avLst/>
          </a:prstGeom>
          <a:noFill/>
          <a:ln>
            <a:noFill/>
          </a:ln>
        </p:spPr>
        <p:txBody>
          <a:bodyPr anchorCtr="0" anchor="t" bIns="0" lIns="0" spcFirstLastPara="1" rIns="0" wrap="square" tIns="0">
            <a:noAutofit/>
          </a:bodyPr>
          <a:lstStyle/>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Disentangled z_T (transcription) / z_PT (degradation)</a:t>
            </a:r>
            <a:endParaRPr b="0" i="0" sz="2150" u="none" cap="none" strike="noStrike">
              <a:solidFill>
                <a:schemeClr val="dk1"/>
              </a:solidFill>
              <a:latin typeface="Calibri"/>
              <a:ea typeface="Calibri"/>
              <a:cs typeface="Calibri"/>
              <a:sym typeface="Calibri"/>
            </a:endParaRPr>
          </a:p>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Kinetic decoder enforces the identity</a:t>
            </a:r>
            <a:endParaRPr b="0" i="0" sz="2150" u="none" cap="none" strike="noStrike">
              <a:solidFill>
                <a:schemeClr val="dk1"/>
              </a:solidFill>
              <a:latin typeface="Calibri"/>
              <a:ea typeface="Calibri"/>
              <a:cs typeface="Calibri"/>
              <a:sym typeface="Calibri"/>
            </a:endParaRPr>
          </a:p>
          <a:p>
            <a:pPr indent="-387350" lvl="0" marL="342900" marR="0" rtl="0" algn="l">
              <a:lnSpc>
                <a:spcPct val="118000"/>
              </a:lnSpc>
              <a:spcBef>
                <a:spcPts val="0"/>
              </a:spcBef>
              <a:spcAft>
                <a:spcPts val="0"/>
              </a:spcAft>
              <a:buClr>
                <a:srgbClr val="111111"/>
              </a:buClr>
              <a:buSzPts val="2150"/>
              <a:buFont typeface="Arial"/>
              <a:buChar char="•"/>
            </a:pPr>
            <a:r>
              <a:rPr b="0" i="0" lang="en-US" sz="2150" u="none" cap="none" strike="noStrike">
                <a:solidFill>
                  <a:srgbClr val="111111"/>
                </a:solidFill>
                <a:latin typeface="Arial"/>
                <a:ea typeface="Arial"/>
                <a:cs typeface="Arial"/>
                <a:sym typeface="Arial"/>
              </a:rPr>
              <a:t>Calibrated posterior γ (mean + variance)</a:t>
            </a:r>
            <a:endParaRPr b="0" i="0" sz="2150" u="none" cap="none" strike="noStrike">
              <a:solidFill>
                <a:schemeClr val="dk1"/>
              </a:solidFill>
              <a:latin typeface="Calibri"/>
              <a:ea typeface="Calibri"/>
              <a:cs typeface="Calibri"/>
              <a:sym typeface="Calibri"/>
            </a:endParaRPr>
          </a:p>
          <a:p>
            <a:pPr indent="0" lvl="0" marL="0" marR="0" rtl="0" algn="l">
              <a:lnSpc>
                <a:spcPct val="118000"/>
              </a:lnSpc>
              <a:spcBef>
                <a:spcPts val="0"/>
              </a:spcBef>
              <a:spcAft>
                <a:spcPts val="0"/>
              </a:spcAft>
              <a:buNone/>
            </a:pPr>
            <a:r>
              <a:t/>
            </a:r>
            <a:endParaRPr b="0" i="0" sz="21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p13"/>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γ recovers published mRNA half-lives</a:t>
            </a:r>
            <a:endParaRPr b="0" i="0" sz="3000" u="none" cap="none" strike="noStrike">
              <a:solidFill>
                <a:schemeClr val="dk1"/>
              </a:solidFill>
              <a:latin typeface="Calibri"/>
              <a:ea typeface="Calibri"/>
              <a:cs typeface="Calibri"/>
              <a:sym typeface="Calibri"/>
            </a:endParaRPr>
          </a:p>
        </p:txBody>
      </p:sp>
      <p:sp>
        <p:nvSpPr>
          <p:cNvPr id="160" name="Google Shape;160;p13"/>
          <p:cNvSpPr/>
          <p:nvPr/>
        </p:nvSpPr>
        <p:spPr>
          <a:xfrm>
            <a:off x="835025" y="1719075"/>
            <a:ext cx="5446800" cy="3922800"/>
          </a:xfrm>
          <a:prstGeom prst="roundRect">
            <a:avLst>
              <a:gd fmla="val 1865"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s/f2A.png" id="161" name="Google Shape;161;p13"/>
          <p:cNvPicPr preferRelativeResize="0"/>
          <p:nvPr/>
        </p:nvPicPr>
        <p:blipFill rotWithShape="1">
          <a:blip r:embed="rId3">
            <a:alphaModFix/>
          </a:blip>
          <a:srcRect b="0" l="0" r="0" t="0"/>
          <a:stretch/>
        </p:blipFill>
        <p:spPr>
          <a:xfrm>
            <a:off x="835025" y="1828800"/>
            <a:ext cx="5337175" cy="3703325"/>
          </a:xfrm>
          <a:prstGeom prst="rect">
            <a:avLst/>
          </a:prstGeom>
          <a:noFill/>
          <a:ln>
            <a:noFill/>
          </a:ln>
        </p:spPr>
      </p:pic>
      <p:sp>
        <p:nvSpPr>
          <p:cNvPr id="162" name="Google Shape;162;p13"/>
          <p:cNvSpPr/>
          <p:nvPr/>
        </p:nvSpPr>
        <p:spPr>
          <a:xfrm>
            <a:off x="6583680" y="1783080"/>
            <a:ext cx="4937760" cy="12801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5200"/>
              <a:buFont typeface="Arial"/>
              <a:buNone/>
            </a:pPr>
            <a:r>
              <a:rPr b="1" i="0" lang="en-US" sz="5200" u="none" cap="none" strike="noStrike">
                <a:solidFill>
                  <a:srgbClr val="000000"/>
                </a:solidFill>
                <a:latin typeface="Arial"/>
                <a:ea typeface="Arial"/>
                <a:cs typeface="Arial"/>
                <a:sym typeface="Arial"/>
              </a:rPr>
              <a:t>ρ = −0.81</a:t>
            </a:r>
            <a:endParaRPr b="0" i="0" sz="5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6A6A6A"/>
              </a:buClr>
              <a:buSzPts val="1400"/>
              <a:buFont typeface="Arial"/>
              <a:buNone/>
            </a:pPr>
            <a:r>
              <a:t/>
            </a:r>
            <a:endParaRPr b="0" i="0" sz="5200" u="none" cap="none" strike="noStrike">
              <a:solidFill>
                <a:schemeClr val="dk1"/>
              </a:solidFill>
              <a:latin typeface="Calibri"/>
              <a:ea typeface="Calibri"/>
              <a:cs typeface="Calibri"/>
              <a:sym typeface="Calibri"/>
            </a:endParaRPr>
          </a:p>
        </p:txBody>
      </p:sp>
      <p:sp>
        <p:nvSpPr>
          <p:cNvPr id="163" name="Google Shape;163;p13"/>
          <p:cNvSpPr/>
          <p:nvPr/>
        </p:nvSpPr>
        <p:spPr>
          <a:xfrm>
            <a:off x="6583680" y="3291840"/>
            <a:ext cx="4983480" cy="512064"/>
          </a:xfrm>
          <a:prstGeom prst="roundRect">
            <a:avLst>
              <a:gd fmla="val 10714" name="adj"/>
            </a:avLst>
          </a:prstGeom>
          <a:solidFill>
            <a:srgbClr val="000000"/>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13"/>
          <p:cNvSpPr/>
          <p:nvPr/>
        </p:nvSpPr>
        <p:spPr>
          <a:xfrm>
            <a:off x="6766560" y="3291840"/>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scPTR (analytic)</a:t>
            </a:r>
            <a:endParaRPr b="0" i="0" sz="1500" u="none" cap="none" strike="noStrike">
              <a:solidFill>
                <a:schemeClr val="dk1"/>
              </a:solidFill>
              <a:latin typeface="Calibri"/>
              <a:ea typeface="Calibri"/>
              <a:cs typeface="Calibri"/>
              <a:sym typeface="Calibri"/>
            </a:endParaRPr>
          </a:p>
        </p:txBody>
      </p:sp>
      <p:sp>
        <p:nvSpPr>
          <p:cNvPr id="165" name="Google Shape;165;p13"/>
          <p:cNvSpPr/>
          <p:nvPr/>
        </p:nvSpPr>
        <p:spPr>
          <a:xfrm>
            <a:off x="10149840" y="3291840"/>
            <a:ext cx="123444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−0.81</a:t>
            </a:r>
            <a:endParaRPr b="0" i="0" sz="1600" u="none" cap="none" strike="noStrike">
              <a:solidFill>
                <a:schemeClr val="dk1"/>
              </a:solidFill>
              <a:latin typeface="Calibri"/>
              <a:ea typeface="Calibri"/>
              <a:cs typeface="Calibri"/>
              <a:sym typeface="Calibri"/>
            </a:endParaRPr>
          </a:p>
        </p:txBody>
      </p:sp>
      <p:sp>
        <p:nvSpPr>
          <p:cNvPr id="166" name="Google Shape;166;p13"/>
          <p:cNvSpPr/>
          <p:nvPr/>
        </p:nvSpPr>
        <p:spPr>
          <a:xfrm>
            <a:off x="6583680" y="3895344"/>
            <a:ext cx="4983480" cy="512064"/>
          </a:xfrm>
          <a:prstGeom prst="roundRect">
            <a:avLst>
              <a:gd fmla="val 10714" name="adj"/>
            </a:avLst>
          </a:prstGeom>
          <a:solidFill>
            <a:srgbClr val="F2F2F2"/>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3"/>
          <p:cNvSpPr/>
          <p:nvPr/>
        </p:nvSpPr>
        <p:spPr>
          <a:xfrm>
            <a:off x="6766560" y="3895344"/>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500"/>
              <a:buFont typeface="Arial"/>
              <a:buNone/>
            </a:pPr>
            <a:r>
              <a:rPr b="0" i="0" lang="en-US" sz="1500" u="none" cap="none" strike="noStrike">
                <a:solidFill>
                  <a:srgbClr val="111111"/>
                </a:solidFill>
                <a:latin typeface="Arial"/>
                <a:ea typeface="Arial"/>
                <a:cs typeface="Arial"/>
                <a:sym typeface="Arial"/>
              </a:rPr>
              <a:t>UniTVelo</a:t>
            </a:r>
            <a:endParaRPr b="0" i="0" sz="1500" u="none" cap="none" strike="noStrike">
              <a:solidFill>
                <a:schemeClr val="dk1"/>
              </a:solidFill>
              <a:latin typeface="Calibri"/>
              <a:ea typeface="Calibri"/>
              <a:cs typeface="Calibri"/>
              <a:sym typeface="Calibri"/>
            </a:endParaRPr>
          </a:p>
        </p:txBody>
      </p:sp>
      <p:sp>
        <p:nvSpPr>
          <p:cNvPr id="168" name="Google Shape;168;p13"/>
          <p:cNvSpPr/>
          <p:nvPr/>
        </p:nvSpPr>
        <p:spPr>
          <a:xfrm>
            <a:off x="10149840" y="3895344"/>
            <a:ext cx="123444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600"/>
              <a:buFont typeface="Arial"/>
              <a:buNone/>
            </a:pPr>
            <a:r>
              <a:rPr b="1" i="0" lang="en-US" sz="1600" u="none" cap="none" strike="noStrike">
                <a:solidFill>
                  <a:srgbClr val="111111"/>
                </a:solidFill>
                <a:latin typeface="Arial"/>
                <a:ea typeface="Arial"/>
                <a:cs typeface="Arial"/>
                <a:sym typeface="Arial"/>
              </a:rPr>
              <a:t>−0.33</a:t>
            </a:r>
            <a:endParaRPr b="0" i="0" sz="1600" u="none" cap="none" strike="noStrike">
              <a:solidFill>
                <a:schemeClr val="dk1"/>
              </a:solidFill>
              <a:latin typeface="Calibri"/>
              <a:ea typeface="Calibri"/>
              <a:cs typeface="Calibri"/>
              <a:sym typeface="Calibri"/>
            </a:endParaRPr>
          </a:p>
        </p:txBody>
      </p:sp>
      <p:sp>
        <p:nvSpPr>
          <p:cNvPr id="169" name="Google Shape;169;p13"/>
          <p:cNvSpPr/>
          <p:nvPr/>
        </p:nvSpPr>
        <p:spPr>
          <a:xfrm>
            <a:off x="6583680" y="4498848"/>
            <a:ext cx="4983480" cy="512064"/>
          </a:xfrm>
          <a:prstGeom prst="roundRect">
            <a:avLst>
              <a:gd fmla="val 10714" name="adj"/>
            </a:avLst>
          </a:prstGeom>
          <a:solidFill>
            <a:srgbClr val="F2F2F2"/>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3"/>
          <p:cNvSpPr/>
          <p:nvPr/>
        </p:nvSpPr>
        <p:spPr>
          <a:xfrm>
            <a:off x="6766560" y="4498848"/>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500"/>
              <a:buFont typeface="Arial"/>
              <a:buNone/>
            </a:pPr>
            <a:r>
              <a:rPr b="0" i="0" lang="en-US" sz="1500" u="none" cap="none" strike="noStrike">
                <a:solidFill>
                  <a:srgbClr val="111111"/>
                </a:solidFill>
                <a:latin typeface="Arial"/>
                <a:ea typeface="Arial"/>
                <a:cs typeface="Arial"/>
                <a:sym typeface="Arial"/>
              </a:rPr>
              <a:t>scVelo (steady-state)</a:t>
            </a:r>
            <a:endParaRPr b="0" i="0" sz="1500" u="none" cap="none" strike="noStrike">
              <a:solidFill>
                <a:schemeClr val="dk1"/>
              </a:solidFill>
              <a:latin typeface="Calibri"/>
              <a:ea typeface="Calibri"/>
              <a:cs typeface="Calibri"/>
              <a:sym typeface="Calibri"/>
            </a:endParaRPr>
          </a:p>
        </p:txBody>
      </p:sp>
      <p:sp>
        <p:nvSpPr>
          <p:cNvPr id="171" name="Google Shape;171;p13"/>
          <p:cNvSpPr/>
          <p:nvPr/>
        </p:nvSpPr>
        <p:spPr>
          <a:xfrm>
            <a:off x="10149840" y="4498848"/>
            <a:ext cx="123444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600"/>
              <a:buFont typeface="Arial"/>
              <a:buNone/>
            </a:pPr>
            <a:r>
              <a:rPr b="1" i="0" lang="en-US" sz="1600" u="none" cap="none" strike="noStrike">
                <a:solidFill>
                  <a:srgbClr val="111111"/>
                </a:solidFill>
                <a:latin typeface="Arial"/>
                <a:ea typeface="Arial"/>
                <a:cs typeface="Arial"/>
                <a:sym typeface="Arial"/>
              </a:rPr>
              <a:t>−0.37</a:t>
            </a:r>
            <a:endParaRPr b="0" i="0" sz="1600" u="none" cap="none" strike="noStrike">
              <a:solidFill>
                <a:schemeClr val="dk1"/>
              </a:solidFill>
              <a:latin typeface="Calibri"/>
              <a:ea typeface="Calibri"/>
              <a:cs typeface="Calibri"/>
              <a:sym typeface="Calibri"/>
            </a:endParaRPr>
          </a:p>
        </p:txBody>
      </p:sp>
      <p:sp>
        <p:nvSpPr>
          <p:cNvPr id="172" name="Google Shape;172;p13"/>
          <p:cNvSpPr/>
          <p:nvPr/>
        </p:nvSpPr>
        <p:spPr>
          <a:xfrm>
            <a:off x="6583680" y="5102352"/>
            <a:ext cx="4983480" cy="512064"/>
          </a:xfrm>
          <a:prstGeom prst="roundRect">
            <a:avLst>
              <a:gd fmla="val 10714" name="adj"/>
            </a:avLst>
          </a:prstGeom>
          <a:solidFill>
            <a:srgbClr val="F2F2F2"/>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3"/>
          <p:cNvSpPr/>
          <p:nvPr/>
        </p:nvSpPr>
        <p:spPr>
          <a:xfrm>
            <a:off x="6766560" y="5102352"/>
            <a:ext cx="338328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500"/>
              <a:buFont typeface="Arial"/>
              <a:buNone/>
            </a:pPr>
            <a:r>
              <a:rPr b="0" i="0" lang="en-US" sz="1500" u="none" cap="none" strike="noStrike">
                <a:solidFill>
                  <a:srgbClr val="111111"/>
                </a:solidFill>
                <a:latin typeface="Arial"/>
                <a:ea typeface="Arial"/>
                <a:cs typeface="Arial"/>
                <a:sym typeface="Arial"/>
              </a:rPr>
              <a:t>velVI</a:t>
            </a:r>
            <a:endParaRPr b="0" i="0" sz="1500" u="none" cap="none" strike="noStrike">
              <a:solidFill>
                <a:schemeClr val="dk1"/>
              </a:solidFill>
              <a:latin typeface="Calibri"/>
              <a:ea typeface="Calibri"/>
              <a:cs typeface="Calibri"/>
              <a:sym typeface="Calibri"/>
            </a:endParaRPr>
          </a:p>
        </p:txBody>
      </p:sp>
      <p:sp>
        <p:nvSpPr>
          <p:cNvPr id="174" name="Google Shape;174;p13"/>
          <p:cNvSpPr/>
          <p:nvPr/>
        </p:nvSpPr>
        <p:spPr>
          <a:xfrm>
            <a:off x="10149840" y="5102352"/>
            <a:ext cx="1234440" cy="512064"/>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600"/>
              <a:buFont typeface="Arial"/>
              <a:buNone/>
            </a:pPr>
            <a:r>
              <a:rPr b="1" i="0" lang="en-US" sz="1600" u="none" cap="none" strike="noStrike">
                <a:solidFill>
                  <a:srgbClr val="111111"/>
                </a:solidFill>
                <a:latin typeface="Arial"/>
                <a:ea typeface="Arial"/>
                <a:cs typeface="Arial"/>
                <a:sym typeface="Arial"/>
              </a:rPr>
              <a:t>−0.28</a:t>
            </a:r>
            <a:endParaRPr b="0" i="0" sz="1600" u="none" cap="none" strike="noStrike">
              <a:solidFill>
                <a:schemeClr val="dk1"/>
              </a:solidFill>
              <a:latin typeface="Calibri"/>
              <a:ea typeface="Calibri"/>
              <a:cs typeface="Calibri"/>
              <a:sym typeface="Calibri"/>
            </a:endParaRPr>
          </a:p>
        </p:txBody>
      </p:sp>
      <p:sp>
        <p:nvSpPr>
          <p:cNvPr id="175" name="Google Shape;175;p13"/>
          <p:cNvSpPr txBox="1"/>
          <p:nvPr/>
        </p:nvSpPr>
        <p:spPr>
          <a:xfrm>
            <a:off x="6583675" y="2604575"/>
            <a:ext cx="4937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scPTR on sci-fate 4sU labelling (cleanest ground truth) </a:t>
            </a:r>
            <a:endParaRPr/>
          </a:p>
        </p:txBody>
      </p:sp>
      <p:sp>
        <p:nvSpPr>
          <p:cNvPr id="176" name="Google Shape;176;p13"/>
          <p:cNvSpPr txBox="1"/>
          <p:nvPr/>
        </p:nvSpPr>
        <p:spPr>
          <a:xfrm>
            <a:off x="6583675" y="289165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Spearman ρ — sci-fate 4sU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1" name="Shape 181"/>
        <p:cNvGrpSpPr/>
        <p:nvPr/>
      </p:nvGrpSpPr>
      <p:grpSpPr>
        <a:xfrm>
          <a:off x="0" y="0"/>
          <a:ext cx="0" cy="0"/>
          <a:chOff x="0" y="0"/>
          <a:chExt cx="0" cy="0"/>
        </a:xfrm>
      </p:grpSpPr>
      <p:sp>
        <p:nvSpPr>
          <p:cNvPr id="182" name="Google Shape;182;p14"/>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Estimates track cis-regulatory biology</a:t>
            </a:r>
            <a:endParaRPr b="0" i="0" sz="3000" u="none" cap="none" strike="noStrike">
              <a:solidFill>
                <a:schemeClr val="dk1"/>
              </a:solidFill>
              <a:latin typeface="Calibri"/>
              <a:ea typeface="Calibri"/>
              <a:cs typeface="Calibri"/>
              <a:sym typeface="Calibri"/>
            </a:endParaRPr>
          </a:p>
        </p:txBody>
      </p:sp>
      <p:sp>
        <p:nvSpPr>
          <p:cNvPr id="183" name="Google Shape;183;p14"/>
          <p:cNvSpPr/>
          <p:nvPr/>
        </p:nvSpPr>
        <p:spPr>
          <a:xfrm>
            <a:off x="594360" y="1783080"/>
            <a:ext cx="5577840" cy="384048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miRNA targets are enriched among high-γ genes</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3A3A3A"/>
              </a:buClr>
              <a:buSzPts val="1550"/>
              <a:buFont typeface="Arial"/>
              <a:buNone/>
            </a:pPr>
            <a:r>
              <a:rPr b="0" i="0" lang="en-US" sz="1550" u="none" cap="none" strike="noStrike">
                <a:solidFill>
                  <a:srgbClr val="3A3A3A"/>
                </a:solidFill>
                <a:latin typeface="Arial"/>
                <a:ea typeface="Arial"/>
                <a:cs typeface="Arial"/>
                <a:sym typeface="Arial"/>
              </a:rPr>
              <a:t>126 of 215 TargetScan 8.0 families significant at FDR&lt;0.05; aggregate p = 4.7×10⁻⁶⁵.</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550"/>
              <a:buFont typeface="Calibri"/>
              <a:buNone/>
            </a:pPr>
            <a:r>
              <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Leading families</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3A3A3A"/>
              </a:buClr>
              <a:buSzPts val="1550"/>
              <a:buFont typeface="Arial"/>
              <a:buNone/>
            </a:pPr>
            <a:r>
              <a:rPr b="0" i="0" lang="en-US" sz="1550" u="none" cap="none" strike="noStrike">
                <a:solidFill>
                  <a:srgbClr val="3A3A3A"/>
                </a:solidFill>
                <a:latin typeface="Arial"/>
                <a:ea typeface="Arial"/>
                <a:cs typeface="Arial"/>
                <a:sym typeface="Arial"/>
              </a:rPr>
              <a:t>miR-153, miR-30e, miR-124, miR-130a, miR-138 — known drivers of endocrine &amp; neuronal differentiation.</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550"/>
              <a:buFont typeface="Calibri"/>
              <a:buNone/>
            </a:pPr>
            <a:r>
              <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800"/>
              <a:buFont typeface="Arial"/>
              <a:buNone/>
            </a:pPr>
            <a:r>
              <a:rPr b="1" i="0" lang="en-US" sz="1800" u="none" cap="none" strike="noStrike">
                <a:solidFill>
                  <a:srgbClr val="111111"/>
                </a:solidFill>
                <a:latin typeface="Arial"/>
                <a:ea typeface="Arial"/>
                <a:cs typeface="Arial"/>
                <a:sym typeface="Arial"/>
              </a:rPr>
              <a:t>Consistent with known destabilising features</a:t>
            </a:r>
            <a:endParaRPr b="0" i="0" sz="15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3A3A3A"/>
              </a:buClr>
              <a:buSzPts val="1550"/>
              <a:buFont typeface="Arial"/>
              <a:buNone/>
            </a:pPr>
            <a:r>
              <a:rPr b="0" i="0" lang="en-US" sz="1550" u="none" cap="none" strike="noStrike">
                <a:solidFill>
                  <a:srgbClr val="3A3A3A"/>
                </a:solidFill>
                <a:latin typeface="Arial"/>
                <a:ea typeface="Arial"/>
                <a:cs typeface="Arial"/>
                <a:sym typeface="Arial"/>
              </a:rPr>
              <a:t>3′UTR length ρ = 0.34 and AU content ρ = 0.30 (both p ≪ 10⁻¹⁵⁰).</a:t>
            </a:r>
            <a:endParaRPr b="0" i="0" sz="1550" u="none" cap="none" strike="noStrike">
              <a:solidFill>
                <a:schemeClr val="dk1"/>
              </a:solidFill>
              <a:latin typeface="Calibri"/>
              <a:ea typeface="Calibri"/>
              <a:cs typeface="Calibri"/>
              <a:sym typeface="Calibri"/>
            </a:endParaRPr>
          </a:p>
        </p:txBody>
      </p:sp>
      <p:sp>
        <p:nvSpPr>
          <p:cNvPr id="184" name="Google Shape;184;p14"/>
          <p:cNvSpPr/>
          <p:nvPr/>
        </p:nvSpPr>
        <p:spPr>
          <a:xfrm>
            <a:off x="6428232" y="1947672"/>
            <a:ext cx="5248656" cy="3557016"/>
          </a:xfrm>
          <a:prstGeom prst="roundRect">
            <a:avLst>
              <a:gd fmla="val 2057"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s/f2B.png" id="185" name="Google Shape;185;p14"/>
          <p:cNvPicPr preferRelativeResize="0"/>
          <p:nvPr/>
        </p:nvPicPr>
        <p:blipFill rotWithShape="1">
          <a:blip r:embed="rId3">
            <a:alphaModFix/>
          </a:blip>
          <a:srcRect b="0" l="0" r="0" t="0"/>
          <a:stretch/>
        </p:blipFill>
        <p:spPr>
          <a:xfrm>
            <a:off x="6537960" y="2057400"/>
            <a:ext cx="5029200" cy="33375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15"/>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Most genes are post-transcriptionally regulated</a:t>
            </a:r>
            <a:endParaRPr b="0" i="0" sz="3000" u="none" cap="none" strike="noStrike">
              <a:solidFill>
                <a:schemeClr val="dk1"/>
              </a:solidFill>
              <a:latin typeface="Calibri"/>
              <a:ea typeface="Calibri"/>
              <a:cs typeface="Calibri"/>
              <a:sym typeface="Calibri"/>
            </a:endParaRPr>
          </a:p>
        </p:txBody>
      </p:sp>
      <p:sp>
        <p:nvSpPr>
          <p:cNvPr id="192" name="Google Shape;192;p15"/>
          <p:cNvSpPr/>
          <p:nvPr/>
        </p:nvSpPr>
        <p:spPr>
          <a:xfrm>
            <a:off x="188013" y="1551975"/>
            <a:ext cx="11785500" cy="4425600"/>
          </a:xfrm>
          <a:prstGeom prst="roundRect">
            <a:avLst>
              <a:gd fmla="val 1653"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93" name="Google Shape;193;p15"/>
          <p:cNvPicPr preferRelativeResize="0"/>
          <p:nvPr/>
        </p:nvPicPr>
        <p:blipFill>
          <a:blip r:embed="rId3">
            <a:alphaModFix/>
          </a:blip>
          <a:stretch>
            <a:fillRect/>
          </a:stretch>
        </p:blipFill>
        <p:spPr>
          <a:xfrm>
            <a:off x="450147" y="1894799"/>
            <a:ext cx="11230766" cy="37399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sp>
        <p:nvSpPr>
          <p:cNvPr id="199" name="Google Shape;199;p16"/>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Finding 1 · Expression-invisible post-transcriptional states</a:t>
            </a:r>
            <a:endParaRPr b="0" i="0" sz="3000" u="none" cap="none" strike="noStrike">
              <a:solidFill>
                <a:schemeClr val="dk1"/>
              </a:solidFill>
              <a:latin typeface="Calibri"/>
              <a:ea typeface="Calibri"/>
              <a:cs typeface="Calibri"/>
              <a:sym typeface="Calibri"/>
            </a:endParaRPr>
          </a:p>
        </p:txBody>
      </p:sp>
      <p:sp>
        <p:nvSpPr>
          <p:cNvPr id="200" name="Google Shape;200;p16"/>
          <p:cNvSpPr/>
          <p:nvPr/>
        </p:nvSpPr>
        <p:spPr>
          <a:xfrm>
            <a:off x="594350" y="1747075"/>
            <a:ext cx="11018400" cy="332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Clustering in γ-space reveals substructure in 5 of 8 pancreatic and 6 of 11 hippocampal cell types.</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2000">
              <a:solidFill>
                <a:schemeClr val="dk1"/>
              </a:solidFill>
            </a:endParaRPr>
          </a:p>
          <a:p>
            <a:pPr indent="0" lvl="0" marL="0" marR="0" rtl="0" algn="l">
              <a:lnSpc>
                <a:spcPct val="115000"/>
              </a:lnSpc>
              <a:spcBef>
                <a:spcPts val="0"/>
              </a:spcBef>
              <a:spcAft>
                <a:spcPts val="0"/>
              </a:spcAft>
              <a:buClr>
                <a:srgbClr val="111111"/>
              </a:buClr>
              <a:buSzPts val="1600"/>
              <a:buFont typeface="Arial"/>
              <a:buNone/>
            </a:pPr>
            <a:r>
              <a:rPr lang="en-US" sz="2000">
                <a:solidFill>
                  <a:schemeClr val="dk1"/>
                </a:solidFill>
              </a:rPr>
              <a:t>Pancreatic Epsilon cells: silhouette 0.276 in γ-space vs −0.042 in expression — one blob by expression, cleanly split by degradation.</a:t>
            </a:r>
            <a:endParaRPr sz="2000">
              <a:solidFill>
                <a:schemeClr val="dk1"/>
              </a:solidFill>
            </a:endParaRPr>
          </a:p>
          <a:p>
            <a:pPr indent="0" lvl="0" marL="0" marR="0" rtl="0" algn="l">
              <a:lnSpc>
                <a:spcPct val="115000"/>
              </a:lnSpc>
              <a:spcBef>
                <a:spcPts val="0"/>
              </a:spcBef>
              <a:spcAft>
                <a:spcPts val="0"/>
              </a:spcAft>
              <a:buClr>
                <a:srgbClr val="111111"/>
              </a:buClr>
              <a:buSzPts val="1600"/>
              <a:buFont typeface="Arial"/>
              <a:buNone/>
            </a:pPr>
            <a:r>
              <a:t/>
            </a: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A u/s-permutation control gives ARI ≈ 0, ruling out smoothing artefacts. High-γ substates are enriched for ER-stress &amp; autophagy programs; hippocampal granule/pyramidal states enriched for synaptic-plasticity &amp; spliceosome programs. .</a:t>
            </a:r>
            <a:br>
              <a:rPr lang="en-US" sz="2000">
                <a:solidFill>
                  <a:schemeClr val="dk1"/>
                </a:solidFill>
              </a:rPr>
            </a:br>
            <a:endParaRPr sz="2000">
              <a:solidFill>
                <a:schemeClr val="dk1"/>
              </a:solidFill>
            </a:endParaRPr>
          </a:p>
          <a:p>
            <a:pPr indent="0" lvl="0" marL="0" rtl="0" algn="l">
              <a:lnSpc>
                <a:spcPct val="115000"/>
              </a:lnSpc>
              <a:spcBef>
                <a:spcPts val="0"/>
              </a:spcBef>
              <a:spcAft>
                <a:spcPts val="0"/>
              </a:spcAft>
              <a:buClr>
                <a:schemeClr val="dk1"/>
              </a:buClr>
              <a:buSzPts val="1100"/>
              <a:buFont typeface="Arial"/>
              <a:buNone/>
            </a:pPr>
            <a:r>
              <a:rPr lang="en-US" sz="2000">
                <a:solidFill>
                  <a:schemeClr val="dk1"/>
                </a:solidFill>
              </a:rPr>
              <a:t>Negative control: expression-space clustering with matched cluster number gives significant enrichments in only 1/8 pancreatic and 2/11 hippocampal cell types — the γ-space structure is not recoverable from expression.</a:t>
            </a:r>
            <a:endParaRPr sz="2000">
              <a:solidFill>
                <a:schemeClr val="dk1"/>
              </a:solidFill>
            </a:endParaRPr>
          </a:p>
          <a:p>
            <a:pPr indent="0" lvl="0" marL="0" marR="0" rtl="0" algn="l">
              <a:lnSpc>
                <a:spcPct val="115000"/>
              </a:lnSpc>
              <a:spcBef>
                <a:spcPts val="0"/>
              </a:spcBef>
              <a:spcAft>
                <a:spcPts val="0"/>
              </a:spcAft>
              <a:buClr>
                <a:srgbClr val="111111"/>
              </a:buClr>
              <a:buSzPts val="1600"/>
              <a:buFont typeface="Arial"/>
              <a:buNone/>
            </a:pPr>
            <a:r>
              <a:t/>
            </a:r>
            <a:endParaRPr sz="2000">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17"/>
          <p:cNvPicPr preferRelativeResize="0"/>
          <p:nvPr/>
        </p:nvPicPr>
        <p:blipFill>
          <a:blip r:embed="rId3">
            <a:alphaModFix/>
          </a:blip>
          <a:stretch>
            <a:fillRect/>
          </a:stretch>
        </p:blipFill>
        <p:spPr>
          <a:xfrm>
            <a:off x="65675" y="775862"/>
            <a:ext cx="6555623" cy="5306276"/>
          </a:xfrm>
          <a:prstGeom prst="rect">
            <a:avLst/>
          </a:prstGeom>
          <a:noFill/>
          <a:ln>
            <a:noFill/>
          </a:ln>
        </p:spPr>
      </p:pic>
      <p:pic>
        <p:nvPicPr>
          <p:cNvPr id="207" name="Google Shape;207;p17" title="figure_1b_pancreas_gamma_space_umap_pt_states.png"/>
          <p:cNvPicPr preferRelativeResize="0"/>
          <p:nvPr/>
        </p:nvPicPr>
        <p:blipFill>
          <a:blip r:embed="rId4">
            <a:alphaModFix/>
          </a:blip>
          <a:stretch>
            <a:fillRect/>
          </a:stretch>
        </p:blipFill>
        <p:spPr>
          <a:xfrm>
            <a:off x="6839600" y="674162"/>
            <a:ext cx="6814100" cy="55096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pic>
        <p:nvPicPr>
          <p:cNvPr id="213" name="Google Shape;213;p18"/>
          <p:cNvPicPr preferRelativeResize="0"/>
          <p:nvPr/>
        </p:nvPicPr>
        <p:blipFill>
          <a:blip r:embed="rId3">
            <a:alphaModFix/>
          </a:blip>
          <a:stretch>
            <a:fillRect/>
          </a:stretch>
        </p:blipFill>
        <p:spPr>
          <a:xfrm>
            <a:off x="0" y="995643"/>
            <a:ext cx="12191999" cy="486671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8" name="Shape 218"/>
        <p:cNvGrpSpPr/>
        <p:nvPr/>
      </p:nvGrpSpPr>
      <p:grpSpPr>
        <a:xfrm>
          <a:off x="0" y="0"/>
          <a:ext cx="0" cy="0"/>
          <a:chOff x="0" y="0"/>
          <a:chExt cx="0" cy="0"/>
        </a:xfrm>
      </p:grpSpPr>
      <p:sp>
        <p:nvSpPr>
          <p:cNvPr id="219" name="Google Shape;219;p19"/>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Finding 2 · Degradation changes PRECEDE expression</a:t>
            </a:r>
            <a:endParaRPr b="0" i="0" sz="3000" u="none" cap="none" strike="noStrike">
              <a:solidFill>
                <a:schemeClr val="dk1"/>
              </a:solidFill>
              <a:latin typeface="Calibri"/>
              <a:ea typeface="Calibri"/>
              <a:cs typeface="Calibri"/>
              <a:sym typeface="Calibri"/>
            </a:endParaRPr>
          </a:p>
        </p:txBody>
      </p:sp>
      <p:sp>
        <p:nvSpPr>
          <p:cNvPr id="220" name="Google Shape;220;p19"/>
          <p:cNvSpPr/>
          <p:nvPr/>
        </p:nvSpPr>
        <p:spPr>
          <a:xfrm>
            <a:off x="278375" y="1764800"/>
            <a:ext cx="6094800" cy="4642500"/>
          </a:xfrm>
          <a:prstGeom prst="roundRect">
            <a:avLst>
              <a:gd fmla="val 1909" name="adj"/>
            </a:avLst>
          </a:prstGeom>
          <a:solidFill>
            <a:srgbClr val="FFFFFF"/>
          </a:solidFill>
          <a:ln cap="flat" cmpd="sng" w="15400">
            <a:solidFill>
              <a:srgbClr val="BBBBBB"/>
            </a:solidFill>
            <a:prstDash val="solid"/>
            <a:round/>
            <a:headEnd len="sm" w="sm" type="none"/>
            <a:tailEnd len="sm" w="sm" type="none"/>
          </a:ln>
          <a:effectLst>
            <a:outerShdw blurRad="107726" rotWithShape="0" algn="bl" dir="5400000" dist="30779">
              <a:srgbClr val="000000">
                <a:alpha val="18039"/>
              </a:srgbClr>
            </a:outerShdw>
          </a:effectLst>
        </p:spPr>
        <p:txBody>
          <a:bodyPr anchorCtr="0" anchor="ctr" bIns="110775" lIns="110775" spcFirstLastPara="1" rIns="110775" wrap="square" tIns="110775">
            <a:noAutofit/>
          </a:bodyPr>
          <a:lstStyle/>
          <a:p>
            <a:pPr indent="0" lvl="0" marL="0" rtl="0" algn="l">
              <a:spcBef>
                <a:spcPts val="0"/>
              </a:spcBef>
              <a:spcAft>
                <a:spcPts val="0"/>
              </a:spcAft>
              <a:buNone/>
            </a:pPr>
            <a:r>
              <a:t/>
            </a:r>
            <a:endParaRPr/>
          </a:p>
        </p:txBody>
      </p:sp>
      <p:pic>
        <p:nvPicPr>
          <p:cNvPr descr="figs/f3B.png" id="221" name="Google Shape;221;p19"/>
          <p:cNvPicPr preferRelativeResize="0"/>
          <p:nvPr/>
        </p:nvPicPr>
        <p:blipFill rotWithShape="1">
          <a:blip r:embed="rId3">
            <a:alphaModFix/>
          </a:blip>
          <a:srcRect b="0" l="0" r="0" t="0"/>
          <a:stretch/>
        </p:blipFill>
        <p:spPr>
          <a:xfrm>
            <a:off x="391947" y="1897764"/>
            <a:ext cx="5867872" cy="4376727"/>
          </a:xfrm>
          <a:prstGeom prst="rect">
            <a:avLst/>
          </a:prstGeom>
          <a:noFill/>
          <a:ln>
            <a:noFill/>
          </a:ln>
        </p:spPr>
      </p:pic>
      <p:sp>
        <p:nvSpPr>
          <p:cNvPr id="222" name="Google Shape;222;p19"/>
          <p:cNvSpPr/>
          <p:nvPr/>
        </p:nvSpPr>
        <p:spPr>
          <a:xfrm>
            <a:off x="6629400" y="1783080"/>
            <a:ext cx="4937760" cy="393192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11111"/>
              </a:buClr>
              <a:buSzPts val="1800"/>
              <a:buFont typeface="Arial"/>
              <a:buNone/>
            </a:pPr>
            <a:r>
              <a:rPr b="1" i="0" lang="en-US" sz="2200" u="none" cap="none" strike="noStrike">
                <a:solidFill>
                  <a:srgbClr val="111111"/>
                </a:solidFill>
                <a:latin typeface="Arial"/>
                <a:ea typeface="Arial"/>
                <a:cs typeface="Arial"/>
                <a:sym typeface="Arial"/>
              </a:rPr>
              <a:t>Post-transcriptional velocity</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550"/>
              <a:buFont typeface="Arial"/>
              <a:buNone/>
            </a:pPr>
            <a:r>
              <a:rPr b="0" i="0" lang="en-US" sz="2200" u="none" cap="none" strike="noStrike">
                <a:solidFill>
                  <a:srgbClr val="111111"/>
                </a:solidFill>
                <a:latin typeface="Arial"/>
                <a:ea typeface="Arial"/>
                <a:cs typeface="Arial"/>
                <a:sym typeface="Arial"/>
              </a:rPr>
              <a:t>— a per-cell γ vector field, </a:t>
            </a:r>
            <a:r>
              <a:rPr b="1" i="0" lang="en-US" sz="2200" u="none" cap="none" strike="noStrike">
                <a:solidFill>
                  <a:srgbClr val="111111"/>
                </a:solidFill>
                <a:latin typeface="Arial"/>
                <a:ea typeface="Arial"/>
                <a:cs typeface="Arial"/>
                <a:sym typeface="Arial"/>
              </a:rPr>
              <a:t>≈ orthogonal to RNA velocity</a:t>
            </a:r>
            <a:r>
              <a:rPr b="0" i="0" lang="en-US" sz="2200" u="none" cap="none" strike="noStrike">
                <a:solidFill>
                  <a:srgbClr val="111111"/>
                </a:solidFill>
                <a:latin typeface="Arial"/>
                <a:ea typeface="Arial"/>
                <a:cs typeface="Arial"/>
                <a:sym typeface="Arial"/>
              </a:rPr>
              <a:t> (cosine ≈ −0.06): the two axes carry independent information.</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550"/>
              <a:buFont typeface="Calibri"/>
              <a:buNone/>
            </a:pPr>
            <a:r>
              <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000000"/>
              </a:buClr>
              <a:buSzPts val="1800"/>
              <a:buFont typeface="Arial"/>
              <a:buNone/>
            </a:pPr>
            <a:r>
              <a:rPr b="1" i="0" lang="en-US" sz="2200" u="none" cap="none" strike="noStrike">
                <a:solidFill>
                  <a:srgbClr val="000000"/>
                </a:solidFill>
                <a:latin typeface="Arial"/>
                <a:ea typeface="Arial"/>
                <a:cs typeface="Arial"/>
                <a:sym typeface="Arial"/>
              </a:rPr>
              <a:t>γ leads expression</a:t>
            </a:r>
            <a:r>
              <a:rPr b="0" i="0" lang="en-US" sz="2200" u="none" cap="none" strike="noStrike">
                <a:solidFill>
                  <a:srgbClr val="111111"/>
                </a:solidFill>
                <a:latin typeface="Arial"/>
                <a:ea typeface="Arial"/>
                <a:cs typeface="Arial"/>
                <a:sym typeface="Arial"/>
              </a:rPr>
              <a:t> along pseudotime for:</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550"/>
              <a:buFont typeface="Arial"/>
              <a:buNone/>
            </a:pPr>
            <a:r>
              <a:rPr b="0" i="0" lang="en-US" sz="2200" u="none" cap="none" strike="noStrike">
                <a:solidFill>
                  <a:srgbClr val="111111"/>
                </a:solidFill>
                <a:latin typeface="Arial"/>
                <a:ea typeface="Arial"/>
                <a:cs typeface="Arial"/>
                <a:sym typeface="Arial"/>
              </a:rPr>
              <a:t>63% of pancreas (p=5.3×10⁻⁶), 78% of dentate gyrus, 61% of A549 transition genes.</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chemeClr val="dk1"/>
              </a:buClr>
              <a:buSzPts val="1550"/>
              <a:buFont typeface="Calibri"/>
              <a:buNone/>
            </a:pPr>
            <a:r>
              <a:t/>
            </a:r>
            <a:endParaRPr b="0" i="0" sz="220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6A6A6A"/>
              </a:buClr>
              <a:buSzPts val="1550"/>
              <a:buFont typeface="Arial"/>
              <a:buNone/>
            </a:pPr>
            <a:r>
              <a:t/>
            </a:r>
            <a:endParaRPr b="0" i="0" sz="22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7" name="Shape 227"/>
        <p:cNvGrpSpPr/>
        <p:nvPr/>
      </p:nvGrpSpPr>
      <p:grpSpPr>
        <a:xfrm>
          <a:off x="0" y="0"/>
          <a:ext cx="0" cy="0"/>
          <a:chOff x="0" y="0"/>
          <a:chExt cx="0" cy="0"/>
        </a:xfrm>
      </p:grpSpPr>
      <p:sp>
        <p:nvSpPr>
          <p:cNvPr id="228" name="Google Shape;228;p20"/>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Finding 3 · RBP networks recover cancer dependencies</a:t>
            </a:r>
            <a:endParaRPr b="0" i="0" sz="3000" u="none" cap="none" strike="noStrike">
              <a:solidFill>
                <a:schemeClr val="dk1"/>
              </a:solidFill>
              <a:latin typeface="Calibri"/>
              <a:ea typeface="Calibri"/>
              <a:cs typeface="Calibri"/>
              <a:sym typeface="Calibri"/>
            </a:endParaRPr>
          </a:p>
        </p:txBody>
      </p:sp>
      <p:sp>
        <p:nvSpPr>
          <p:cNvPr id="229" name="Google Shape;229;p20"/>
          <p:cNvSpPr/>
          <p:nvPr/>
        </p:nvSpPr>
        <p:spPr>
          <a:xfrm>
            <a:off x="594360" y="1783080"/>
            <a:ext cx="5669280" cy="4023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11111"/>
              </a:buClr>
              <a:buSzPts val="1700"/>
              <a:buFont typeface="Arial"/>
              <a:buNone/>
            </a:pPr>
            <a:r>
              <a:rPr b="1" i="0" lang="en-US" sz="1700" u="none" cap="none" strike="noStrike">
                <a:solidFill>
                  <a:schemeClr val="dk1"/>
                </a:solidFill>
              </a:rPr>
              <a:t>Library-size correction is essential.</a:t>
            </a:r>
            <a:endParaRPr i="0" sz="1700" u="none" cap="none" strike="noStrike">
              <a:solidFill>
                <a:schemeClr val="dk1"/>
              </a:solidFill>
            </a:endParaRPr>
          </a:p>
          <a:p>
            <a:pPr indent="0" lvl="0" marL="0" marR="0" rtl="0" algn="l">
              <a:lnSpc>
                <a:spcPct val="112000"/>
              </a:lnSpc>
              <a:spcBef>
                <a:spcPts val="0"/>
              </a:spcBef>
              <a:spcAft>
                <a:spcPts val="0"/>
              </a:spcAft>
              <a:buClr>
                <a:srgbClr val="3A3A3A"/>
              </a:buClr>
              <a:buSzPts val="1500"/>
              <a:buFont typeface="Arial"/>
              <a:buNone/>
            </a:pPr>
            <a:r>
              <a:rPr i="0" lang="en-US" sz="1700" u="none" cap="none" strike="noStrike">
                <a:solidFill>
                  <a:schemeClr val="dk1"/>
                </a:solidFill>
              </a:rPr>
              <a:t>Uncorrected inference is 98.9% destabilising (depth confound); correction drops 11,847 spurious edges → balanced 53/47.</a:t>
            </a:r>
            <a:endParaRPr i="0" sz="1700" u="none" cap="none" strike="noStrike">
              <a:solidFill>
                <a:schemeClr val="dk1"/>
              </a:solidFill>
            </a:endParaRPr>
          </a:p>
          <a:p>
            <a:pPr indent="0" lvl="0" marL="0" marR="0" rtl="0" algn="l">
              <a:lnSpc>
                <a:spcPct val="112000"/>
              </a:lnSpc>
              <a:spcBef>
                <a:spcPts val="0"/>
              </a:spcBef>
              <a:spcAft>
                <a:spcPts val="0"/>
              </a:spcAft>
              <a:buClr>
                <a:schemeClr val="dk1"/>
              </a:buClr>
              <a:buSzPts val="1500"/>
              <a:buFont typeface="Calibri"/>
              <a:buNone/>
            </a:pPr>
            <a:r>
              <a:t/>
            </a:r>
            <a:endParaRPr i="0" sz="1700" u="none" cap="none" strike="noStrike">
              <a:solidFill>
                <a:schemeClr val="dk1"/>
              </a:solidFill>
            </a:endParaRPr>
          </a:p>
          <a:p>
            <a:pPr indent="0" lvl="0" marL="0" marR="0" rtl="0" algn="l">
              <a:lnSpc>
                <a:spcPct val="112000"/>
              </a:lnSpc>
              <a:spcBef>
                <a:spcPts val="0"/>
              </a:spcBef>
              <a:spcAft>
                <a:spcPts val="0"/>
              </a:spcAft>
              <a:buClr>
                <a:srgbClr val="111111"/>
              </a:buClr>
              <a:buSzPts val="1700"/>
              <a:buFont typeface="Arial"/>
              <a:buNone/>
            </a:pPr>
            <a:r>
              <a:rPr b="1" i="0" lang="en-US" sz="1700" u="none" cap="none" strike="noStrike">
                <a:solidFill>
                  <a:schemeClr val="dk1"/>
                </a:solidFill>
              </a:rPr>
              <a:t>Hubs = known essentials.</a:t>
            </a:r>
            <a:endParaRPr i="0" sz="1700" u="none" cap="none" strike="noStrike">
              <a:solidFill>
                <a:schemeClr val="dk1"/>
              </a:solidFill>
            </a:endParaRPr>
          </a:p>
          <a:p>
            <a:pPr indent="0" lvl="0" marL="0" marR="0" rtl="0" algn="l">
              <a:lnSpc>
                <a:spcPct val="112000"/>
              </a:lnSpc>
              <a:spcBef>
                <a:spcPts val="0"/>
              </a:spcBef>
              <a:spcAft>
                <a:spcPts val="0"/>
              </a:spcAft>
              <a:buClr>
                <a:srgbClr val="3A3A3A"/>
              </a:buClr>
              <a:buSzPts val="1500"/>
              <a:buFont typeface="Arial"/>
              <a:buNone/>
            </a:pPr>
            <a:r>
              <a:rPr i="0" lang="en-US" sz="1700" u="none" cap="none" strike="noStrike">
                <a:solidFill>
                  <a:schemeClr val="dk1"/>
                </a:solidFill>
              </a:rPr>
              <a:t>Top hubs (HNRNPA1, YBX1, ELAVL1/HuR, SRSF3) overlap DepMap CRISPR essentials (p = 6.4×10⁻⁵).</a:t>
            </a:r>
            <a:endParaRPr i="0" sz="1700" u="none" cap="none" strike="noStrike">
              <a:solidFill>
                <a:schemeClr val="dk1"/>
              </a:solidFill>
            </a:endParaRPr>
          </a:p>
          <a:p>
            <a:pPr indent="0" lvl="0" marL="0" marR="0" rtl="0" algn="l">
              <a:lnSpc>
                <a:spcPct val="112000"/>
              </a:lnSpc>
              <a:spcBef>
                <a:spcPts val="0"/>
              </a:spcBef>
              <a:spcAft>
                <a:spcPts val="0"/>
              </a:spcAft>
              <a:buClr>
                <a:schemeClr val="dk1"/>
              </a:buClr>
              <a:buSzPts val="1500"/>
              <a:buFont typeface="Calibri"/>
              <a:buNone/>
            </a:pPr>
            <a:r>
              <a:t/>
            </a:r>
            <a:endParaRPr i="0" sz="1700" u="none" cap="none" strike="noStrike">
              <a:solidFill>
                <a:schemeClr val="dk1"/>
              </a:solidFill>
            </a:endParaRPr>
          </a:p>
          <a:p>
            <a:pPr indent="0" lvl="0" marL="0" marR="0" rtl="0" algn="l">
              <a:lnSpc>
                <a:spcPct val="112000"/>
              </a:lnSpc>
              <a:spcBef>
                <a:spcPts val="0"/>
              </a:spcBef>
              <a:spcAft>
                <a:spcPts val="0"/>
              </a:spcAft>
              <a:buClr>
                <a:srgbClr val="000000"/>
              </a:buClr>
              <a:buSzPts val="1700"/>
              <a:buFont typeface="Arial"/>
              <a:buNone/>
            </a:pPr>
            <a:r>
              <a:rPr b="1" i="0" lang="en-US" sz="1700" u="none" cap="none" strike="noStrike">
                <a:solidFill>
                  <a:schemeClr val="dk1"/>
                </a:solidFill>
              </a:rPr>
              <a:t>Neuroblastoma flips the sign.</a:t>
            </a:r>
            <a:endParaRPr i="0" sz="1700" u="none" cap="none" strike="noStrike">
              <a:solidFill>
                <a:schemeClr val="dk1"/>
              </a:solidFill>
            </a:endParaRPr>
          </a:p>
          <a:p>
            <a:pPr indent="0" lvl="0" marL="0" marR="0" rtl="0" algn="l">
              <a:lnSpc>
                <a:spcPct val="112000"/>
              </a:lnSpc>
              <a:spcBef>
                <a:spcPts val="0"/>
              </a:spcBef>
              <a:spcAft>
                <a:spcPts val="0"/>
              </a:spcAft>
              <a:buClr>
                <a:srgbClr val="3A3A3A"/>
              </a:buClr>
              <a:buSzPts val="1500"/>
              <a:buFont typeface="Arial"/>
              <a:buNone/>
            </a:pPr>
            <a:r>
              <a:rPr i="0" lang="en-US" sz="1700" u="none" cap="none" strike="noStrike">
                <a:solidFill>
                  <a:schemeClr val="dk1"/>
                </a:solidFill>
              </a:rPr>
              <a:t>Landscape becomes 66% stabilising — the oncogenic regime; a ~3.4% MYCN-driven subpopulation reaches 81%.</a:t>
            </a:r>
            <a:endParaRPr i="0" sz="1700" u="none" cap="none" strike="noStrike">
              <a:solidFill>
                <a:schemeClr val="dk1"/>
              </a:solidFill>
            </a:endParaRPr>
          </a:p>
          <a:p>
            <a:pPr indent="0" lvl="0" marL="0" marR="0" rtl="0" algn="l">
              <a:lnSpc>
                <a:spcPct val="112000"/>
              </a:lnSpc>
              <a:spcBef>
                <a:spcPts val="0"/>
              </a:spcBef>
              <a:spcAft>
                <a:spcPts val="0"/>
              </a:spcAft>
              <a:buClr>
                <a:srgbClr val="3A3A3A"/>
              </a:buClr>
              <a:buSzPts val="1500"/>
              <a:buFont typeface="Arial"/>
              <a:buNone/>
            </a:pPr>
            <a:r>
              <a:t/>
            </a:r>
            <a:endParaRPr sz="1700">
              <a:solidFill>
                <a:schemeClr val="dk1"/>
              </a:solidFill>
            </a:endParaRPr>
          </a:p>
          <a:p>
            <a:pPr indent="0" lvl="0" marL="0" marR="0" rtl="0" algn="l">
              <a:lnSpc>
                <a:spcPct val="112000"/>
              </a:lnSpc>
              <a:spcBef>
                <a:spcPts val="0"/>
              </a:spcBef>
              <a:spcAft>
                <a:spcPts val="0"/>
              </a:spcAft>
              <a:buClr>
                <a:srgbClr val="3A3A3A"/>
              </a:buClr>
              <a:buSzPts val="1500"/>
              <a:buFont typeface="Arial"/>
              <a:buNone/>
            </a:pPr>
            <a:r>
              <a:rPr b="1" lang="en-US" sz="1700">
                <a:solidFill>
                  <a:schemeClr val="dk1"/>
                </a:solidFill>
              </a:rPr>
              <a:t>Top stabilizing hubs:</a:t>
            </a:r>
            <a:r>
              <a:rPr lang="en-US" sz="1700">
                <a:solidFill>
                  <a:schemeClr val="dk1"/>
                </a:solidFill>
              </a:rPr>
              <a:t> HNRNPA2B1, PABPC1 (known cancer dependencies). Destabilizing minority: ZFP36 / TTP — AU-rich-element decay factors suppressed in cancer </a:t>
            </a:r>
            <a:endParaRPr sz="1700">
              <a:solidFill>
                <a:schemeClr val="dk1"/>
              </a:solidFill>
            </a:endParaRPr>
          </a:p>
        </p:txBody>
      </p:sp>
      <p:sp>
        <p:nvSpPr>
          <p:cNvPr id="230" name="Google Shape;230;p20"/>
          <p:cNvSpPr/>
          <p:nvPr/>
        </p:nvSpPr>
        <p:spPr>
          <a:xfrm>
            <a:off x="6336792" y="2084832"/>
            <a:ext cx="5477256" cy="3282696"/>
          </a:xfrm>
          <a:prstGeom prst="roundRect">
            <a:avLst>
              <a:gd fmla="val 2228"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figs/gen_flip.png" id="231" name="Google Shape;231;p20"/>
          <p:cNvPicPr preferRelativeResize="0"/>
          <p:nvPr/>
        </p:nvPicPr>
        <p:blipFill rotWithShape="1">
          <a:blip r:embed="rId3">
            <a:alphaModFix/>
          </a:blip>
          <a:srcRect b="0" l="0" r="0" t="0"/>
          <a:stretch/>
        </p:blipFill>
        <p:spPr>
          <a:xfrm>
            <a:off x="6446520" y="2194560"/>
            <a:ext cx="5257798" cy="30632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6" name="Shape 236"/>
        <p:cNvGrpSpPr/>
        <p:nvPr/>
      </p:nvGrpSpPr>
      <p:grpSpPr>
        <a:xfrm>
          <a:off x="0" y="0"/>
          <a:ext cx="0" cy="0"/>
          <a:chOff x="0" y="0"/>
          <a:chExt cx="0" cy="0"/>
        </a:xfrm>
      </p:grpSpPr>
      <p:sp>
        <p:nvSpPr>
          <p:cNvPr id="237" name="Google Shape;237;p21"/>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DeepPTR: an identifiable latent for degradation</a:t>
            </a:r>
            <a:endParaRPr b="0" i="0" sz="3000" u="none" cap="none" strike="noStrike">
              <a:solidFill>
                <a:schemeClr val="dk1"/>
              </a:solidFill>
              <a:latin typeface="Calibri"/>
              <a:ea typeface="Calibri"/>
              <a:cs typeface="Calibri"/>
              <a:sym typeface="Calibri"/>
            </a:endParaRPr>
          </a:p>
        </p:txBody>
      </p:sp>
      <p:sp>
        <p:nvSpPr>
          <p:cNvPr id="238" name="Google Shape;238;p21"/>
          <p:cNvSpPr/>
          <p:nvPr/>
        </p:nvSpPr>
        <p:spPr>
          <a:xfrm>
            <a:off x="594360" y="1783080"/>
            <a:ext cx="5486400" cy="219456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A structured NB-VAE with a </a:t>
            </a:r>
            <a:r>
              <a:rPr b="1" i="0" lang="en-US" sz="1600" u="none" cap="none" strike="noStrike">
                <a:solidFill>
                  <a:srgbClr val="111111"/>
                </a:solidFill>
                <a:latin typeface="Arial"/>
                <a:ea typeface="Arial"/>
                <a:cs typeface="Arial"/>
                <a:sym typeface="Arial"/>
              </a:rPr>
              <a:t>kinetic decoder</a:t>
            </a:r>
            <a:r>
              <a:rPr b="0" i="0" lang="en-US" sz="1600" u="none" cap="none" strike="noStrike">
                <a:solidFill>
                  <a:srgbClr val="111111"/>
                </a:solidFill>
                <a:latin typeface="Arial"/>
                <a:ea typeface="Arial"/>
                <a:cs typeface="Arial"/>
                <a:sym typeface="Arial"/>
              </a:rPr>
              <a:t> that splits the latent into transcriptional (z</a:t>
            </a:r>
            <a:r>
              <a:rPr b="0" baseline="-25000" i="0" lang="en-US" sz="1600" u="none" cap="none" strike="noStrike">
                <a:solidFill>
                  <a:srgbClr val="111111"/>
                </a:solidFill>
                <a:latin typeface="Arial"/>
                <a:ea typeface="Arial"/>
                <a:cs typeface="Arial"/>
                <a:sym typeface="Arial"/>
              </a:rPr>
              <a:t>T</a:t>
            </a:r>
            <a:r>
              <a:rPr b="0" i="0" lang="en-US" sz="1600" u="none" cap="none" strike="noStrike">
                <a:solidFill>
                  <a:srgbClr val="111111"/>
                </a:solidFill>
                <a:latin typeface="Arial"/>
                <a:ea typeface="Arial"/>
                <a:cs typeface="Arial"/>
                <a:sym typeface="Arial"/>
              </a:rPr>
              <a:t>) and post-transcriptional (z</a:t>
            </a:r>
            <a:r>
              <a:rPr b="0" baseline="-25000" i="0" lang="en-US" sz="1600" u="none" cap="none" strike="noStrike">
                <a:solidFill>
                  <a:srgbClr val="111111"/>
                </a:solidFill>
                <a:latin typeface="Arial"/>
                <a:ea typeface="Arial"/>
                <a:cs typeface="Arial"/>
                <a:sym typeface="Arial"/>
              </a:rPr>
              <a:t>PT</a:t>
            </a:r>
            <a:r>
              <a:rPr b="0" i="0" lang="en-US" sz="1600" u="none" cap="none" strike="noStrike">
                <a:solidFill>
                  <a:srgbClr val="111111"/>
                </a:solidFill>
                <a:latin typeface="Arial"/>
                <a:ea typeface="Arial"/>
                <a:cs typeface="Arial"/>
                <a:sym typeface="Arial"/>
              </a:rPr>
              <a:t>) blocks.</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chemeClr val="dk1"/>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lnSpc>
                <a:spcPct val="115000"/>
              </a:lnSpc>
              <a:spcBef>
                <a:spcPts val="0"/>
              </a:spcBef>
              <a:spcAft>
                <a:spcPts val="0"/>
              </a:spcAft>
              <a:buClr>
                <a:srgbClr val="111111"/>
              </a:buClr>
              <a:buSzPts val="1600"/>
              <a:buFont typeface="Arial"/>
              <a:buNone/>
            </a:pPr>
            <a:r>
              <a:rPr b="0" i="0" lang="en-US" sz="1600" u="none" cap="none" strike="noStrike">
                <a:solidFill>
                  <a:srgbClr val="111111"/>
                </a:solidFill>
                <a:latin typeface="Arial"/>
                <a:ea typeface="Arial"/>
                <a:cs typeface="Arial"/>
                <a:sym typeface="Arial"/>
              </a:rPr>
              <a:t>μᵤ is not free — it is fixed by μˢ and z</a:t>
            </a:r>
            <a:r>
              <a:rPr b="0" baseline="-25000" i="0" lang="en-US" sz="1600" u="none" cap="none" strike="noStrike">
                <a:solidFill>
                  <a:srgbClr val="111111"/>
                </a:solidFill>
                <a:latin typeface="Arial"/>
                <a:ea typeface="Arial"/>
                <a:cs typeface="Arial"/>
                <a:sym typeface="Arial"/>
              </a:rPr>
              <a:t>PT</a:t>
            </a:r>
            <a:r>
              <a:rPr b="0" i="0" lang="en-US" sz="1600" u="none" cap="none" strike="noStrike">
                <a:solidFill>
                  <a:srgbClr val="111111"/>
                </a:solidFill>
                <a:latin typeface="Arial"/>
                <a:ea typeface="Arial"/>
                <a:cs typeface="Arial"/>
                <a:sym typeface="Arial"/>
              </a:rPr>
              <a:t> through the same kinetic identity, which is what makes z</a:t>
            </a:r>
            <a:r>
              <a:rPr b="0" baseline="-25000" i="0" lang="en-US" sz="1600" u="none" cap="none" strike="noStrike">
                <a:solidFill>
                  <a:srgbClr val="111111"/>
                </a:solidFill>
                <a:latin typeface="Arial"/>
                <a:ea typeface="Arial"/>
                <a:cs typeface="Arial"/>
                <a:sym typeface="Arial"/>
              </a:rPr>
              <a:t>PT</a:t>
            </a:r>
            <a:r>
              <a:rPr b="0" i="0" lang="en-US" sz="1600" u="none" cap="none" strike="noStrike">
                <a:solidFill>
                  <a:srgbClr val="111111"/>
                </a:solidFill>
                <a:latin typeface="Arial"/>
                <a:ea typeface="Arial"/>
                <a:cs typeface="Arial"/>
                <a:sym typeface="Arial"/>
              </a:rPr>
              <a:t> identifiable as the degradation axis.</a:t>
            </a:r>
            <a:endParaRPr b="0" i="0" sz="1600" u="none" cap="none" strike="noStrike">
              <a:solidFill>
                <a:schemeClr val="dk1"/>
              </a:solidFill>
              <a:latin typeface="Calibri"/>
              <a:ea typeface="Calibri"/>
              <a:cs typeface="Calibri"/>
              <a:sym typeface="Calibri"/>
            </a:endParaRPr>
          </a:p>
        </p:txBody>
      </p:sp>
      <p:sp>
        <p:nvSpPr>
          <p:cNvPr id="239" name="Google Shape;239;p21"/>
          <p:cNvSpPr/>
          <p:nvPr/>
        </p:nvSpPr>
        <p:spPr>
          <a:xfrm>
            <a:off x="594360" y="4069080"/>
            <a:ext cx="2606040" cy="1600200"/>
          </a:xfrm>
          <a:prstGeom prst="roundRect">
            <a:avLst>
              <a:gd fmla="val 5143"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21"/>
          <p:cNvSpPr/>
          <p:nvPr/>
        </p:nvSpPr>
        <p:spPr>
          <a:xfrm>
            <a:off x="594360" y="4224528"/>
            <a:ext cx="26060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a:buNone/>
            </a:pPr>
            <a:r>
              <a:rPr b="1" i="0" lang="en-US" sz="3400" u="none" cap="none" strike="noStrike">
                <a:solidFill>
                  <a:srgbClr val="000000"/>
                </a:solidFill>
                <a:latin typeface="Arial"/>
                <a:ea typeface="Arial"/>
                <a:cs typeface="Arial"/>
                <a:sym typeface="Arial"/>
              </a:rPr>
              <a:t>0.94</a:t>
            </a:r>
            <a:endParaRPr b="0" i="0" sz="3400" u="none" cap="none" strike="noStrike">
              <a:solidFill>
                <a:schemeClr val="dk1"/>
              </a:solidFill>
              <a:latin typeface="Calibri"/>
              <a:ea typeface="Calibri"/>
              <a:cs typeface="Calibri"/>
              <a:sym typeface="Calibri"/>
            </a:endParaRPr>
          </a:p>
        </p:txBody>
      </p:sp>
      <p:sp>
        <p:nvSpPr>
          <p:cNvPr id="241" name="Google Shape;241;p21"/>
          <p:cNvSpPr/>
          <p:nvPr/>
        </p:nvSpPr>
        <p:spPr>
          <a:xfrm>
            <a:off x="777240" y="5029200"/>
            <a:ext cx="2240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A6A"/>
              </a:buClr>
              <a:buSzPts val="1250"/>
              <a:buFont typeface="Arial"/>
              <a:buNone/>
            </a:pPr>
            <a:r>
              <a:rPr b="0" i="0" lang="en-US" sz="1250" u="none" cap="none" strike="noStrike">
                <a:solidFill>
                  <a:srgbClr val="6A6A6A"/>
                </a:solidFill>
                <a:latin typeface="Arial"/>
                <a:ea typeface="Arial"/>
                <a:cs typeface="Arial"/>
                <a:sym typeface="Arial"/>
              </a:rPr>
              <a:t>zₚₜ stability (split model)</a:t>
            </a:r>
            <a:endParaRPr b="0" i="0" sz="1250" u="none" cap="none" strike="noStrike">
              <a:solidFill>
                <a:schemeClr val="dk1"/>
              </a:solidFill>
              <a:latin typeface="Calibri"/>
              <a:ea typeface="Calibri"/>
              <a:cs typeface="Calibri"/>
              <a:sym typeface="Calibri"/>
            </a:endParaRPr>
          </a:p>
        </p:txBody>
      </p:sp>
      <p:sp>
        <p:nvSpPr>
          <p:cNvPr id="242" name="Google Shape;242;p21"/>
          <p:cNvSpPr/>
          <p:nvPr/>
        </p:nvSpPr>
        <p:spPr>
          <a:xfrm>
            <a:off x="3429000" y="4069080"/>
            <a:ext cx="2606040" cy="1600200"/>
          </a:xfrm>
          <a:prstGeom prst="roundRect">
            <a:avLst>
              <a:gd fmla="val 5143"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21"/>
          <p:cNvSpPr/>
          <p:nvPr/>
        </p:nvSpPr>
        <p:spPr>
          <a:xfrm>
            <a:off x="3429000" y="4224528"/>
            <a:ext cx="2606040" cy="7772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3400"/>
              <a:buFont typeface="Arial"/>
              <a:buNone/>
            </a:pPr>
            <a:r>
              <a:rPr b="1" i="0" lang="en-US" sz="3400" u="none" cap="none" strike="noStrike">
                <a:solidFill>
                  <a:srgbClr val="000000"/>
                </a:solidFill>
                <a:latin typeface="Arial"/>
                <a:ea typeface="Arial"/>
                <a:cs typeface="Arial"/>
                <a:sym typeface="Arial"/>
              </a:rPr>
              <a:t>0.31</a:t>
            </a:r>
            <a:endParaRPr b="0" i="0" sz="3400" u="none" cap="none" strike="noStrike">
              <a:solidFill>
                <a:schemeClr val="dk1"/>
              </a:solidFill>
              <a:latin typeface="Calibri"/>
              <a:ea typeface="Calibri"/>
              <a:cs typeface="Calibri"/>
              <a:sym typeface="Calibri"/>
            </a:endParaRPr>
          </a:p>
        </p:txBody>
      </p:sp>
      <p:sp>
        <p:nvSpPr>
          <p:cNvPr id="244" name="Google Shape;244;p21"/>
          <p:cNvSpPr/>
          <p:nvPr/>
        </p:nvSpPr>
        <p:spPr>
          <a:xfrm>
            <a:off x="3611880" y="5029200"/>
            <a:ext cx="2240280" cy="5486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A6A6A"/>
              </a:buClr>
              <a:buSzPts val="1250"/>
              <a:buFont typeface="Arial"/>
              <a:buNone/>
            </a:pPr>
            <a:r>
              <a:rPr b="0" i="0" lang="en-US" sz="1250" u="none" cap="none" strike="noStrike">
                <a:solidFill>
                  <a:srgbClr val="6A6A6A"/>
                </a:solidFill>
                <a:latin typeface="Arial"/>
                <a:ea typeface="Arial"/>
                <a:cs typeface="Arial"/>
                <a:sym typeface="Arial"/>
              </a:rPr>
              <a:t>...collapses if zₜ, zₚₜ merged</a:t>
            </a:r>
            <a:endParaRPr b="0" i="0" sz="1250" u="none" cap="none" strike="noStrike">
              <a:solidFill>
                <a:schemeClr val="dk1"/>
              </a:solidFill>
              <a:latin typeface="Calibri"/>
              <a:ea typeface="Calibri"/>
              <a:cs typeface="Calibri"/>
              <a:sym typeface="Calibri"/>
            </a:endParaRPr>
          </a:p>
        </p:txBody>
      </p:sp>
      <p:sp>
        <p:nvSpPr>
          <p:cNvPr id="245" name="Google Shape;245;p21"/>
          <p:cNvSpPr/>
          <p:nvPr/>
        </p:nvSpPr>
        <p:spPr>
          <a:xfrm>
            <a:off x="6537960" y="1783080"/>
            <a:ext cx="5029200" cy="3886200"/>
          </a:xfrm>
          <a:prstGeom prst="roundRect">
            <a:avLst>
              <a:gd fmla="val 2118" name="adj"/>
            </a:avLst>
          </a:prstGeom>
          <a:solidFill>
            <a:srgbClr val="F2F2F2"/>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1"/>
          <p:cNvSpPr/>
          <p:nvPr/>
        </p:nvSpPr>
        <p:spPr>
          <a:xfrm>
            <a:off x="6812280" y="2048256"/>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500"/>
              <a:buFont typeface="Arial"/>
              <a:buNone/>
            </a:pPr>
            <a:r>
              <a:rPr b="1" i="0" lang="en-US" sz="1500" u="none" cap="none" strike="noStrike">
                <a:solidFill>
                  <a:srgbClr val="111111"/>
                </a:solidFill>
                <a:latin typeface="Arial"/>
                <a:ea typeface="Arial"/>
                <a:cs typeface="Arial"/>
                <a:sym typeface="Arial"/>
              </a:rPr>
              <a:t>Ablation: the kinetic constraint is key</a:t>
            </a:r>
            <a:endParaRPr b="0" i="0" sz="1500" u="none" cap="none" strike="noStrike">
              <a:solidFill>
                <a:schemeClr val="dk1"/>
              </a:solidFill>
              <a:latin typeface="Calibri"/>
              <a:ea typeface="Calibri"/>
              <a:cs typeface="Calibri"/>
              <a:sym typeface="Calibri"/>
            </a:endParaRPr>
          </a:p>
        </p:txBody>
      </p:sp>
      <p:sp>
        <p:nvSpPr>
          <p:cNvPr id="247" name="Google Shape;247;p21"/>
          <p:cNvSpPr/>
          <p:nvPr/>
        </p:nvSpPr>
        <p:spPr>
          <a:xfrm>
            <a:off x="6812280" y="2468880"/>
            <a:ext cx="23774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A6A6A"/>
              </a:buClr>
              <a:buSzPts val="1150"/>
              <a:buFont typeface="Arial"/>
              <a:buNone/>
            </a:pPr>
            <a:r>
              <a:rPr b="1" i="0" lang="en-US" sz="1150" u="none" cap="none" strike="noStrike">
                <a:solidFill>
                  <a:srgbClr val="6A6A6A"/>
                </a:solidFill>
                <a:latin typeface="Arial"/>
                <a:ea typeface="Arial"/>
                <a:cs typeface="Arial"/>
                <a:sym typeface="Arial"/>
              </a:rPr>
              <a:t>Variant</a:t>
            </a:r>
            <a:endParaRPr b="0" i="0" sz="1150" u="none" cap="none" strike="noStrike">
              <a:solidFill>
                <a:schemeClr val="dk1"/>
              </a:solidFill>
              <a:latin typeface="Calibri"/>
              <a:ea typeface="Calibri"/>
              <a:cs typeface="Calibri"/>
              <a:sym typeface="Calibri"/>
            </a:endParaRPr>
          </a:p>
        </p:txBody>
      </p:sp>
      <p:sp>
        <p:nvSpPr>
          <p:cNvPr id="248" name="Google Shape;248;p21"/>
          <p:cNvSpPr/>
          <p:nvPr/>
        </p:nvSpPr>
        <p:spPr>
          <a:xfrm>
            <a:off x="9098280" y="2468880"/>
            <a:ext cx="118872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A6A"/>
              </a:buClr>
              <a:buSzPts val="1150"/>
              <a:buFont typeface="Arial"/>
              <a:buNone/>
            </a:pPr>
            <a:r>
              <a:rPr b="1" i="0" lang="en-US" sz="1150" u="none" cap="none" strike="noStrike">
                <a:solidFill>
                  <a:srgbClr val="6A6A6A"/>
                </a:solidFill>
                <a:latin typeface="Arial"/>
                <a:ea typeface="Arial"/>
                <a:cs typeface="Arial"/>
                <a:sym typeface="Arial"/>
              </a:rPr>
              <a:t>half-life ρ</a:t>
            </a:r>
            <a:endParaRPr b="0" i="0" sz="1150" u="none" cap="none" strike="noStrike">
              <a:solidFill>
                <a:schemeClr val="dk1"/>
              </a:solidFill>
              <a:latin typeface="Calibri"/>
              <a:ea typeface="Calibri"/>
              <a:cs typeface="Calibri"/>
              <a:sym typeface="Calibri"/>
            </a:endParaRPr>
          </a:p>
        </p:txBody>
      </p:sp>
      <p:sp>
        <p:nvSpPr>
          <p:cNvPr id="249" name="Google Shape;249;p21"/>
          <p:cNvSpPr/>
          <p:nvPr/>
        </p:nvSpPr>
        <p:spPr>
          <a:xfrm>
            <a:off x="10287000" y="2468880"/>
            <a:ext cx="105156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A6A6A"/>
              </a:buClr>
              <a:buSzPts val="1150"/>
              <a:buFont typeface="Arial"/>
              <a:buNone/>
            </a:pPr>
            <a:r>
              <a:rPr b="1" i="0" lang="en-US" sz="1150" u="none" cap="none" strike="noStrike">
                <a:solidFill>
                  <a:srgbClr val="6A6A6A"/>
                </a:solidFill>
                <a:latin typeface="Arial"/>
                <a:ea typeface="Arial"/>
                <a:cs typeface="Arial"/>
                <a:sym typeface="Arial"/>
              </a:rPr>
              <a:t>zₚₜ stab.</a:t>
            </a:r>
            <a:endParaRPr b="0" i="0" sz="1150" u="none" cap="none" strike="noStrike">
              <a:solidFill>
                <a:schemeClr val="dk1"/>
              </a:solidFill>
              <a:latin typeface="Calibri"/>
              <a:ea typeface="Calibri"/>
              <a:cs typeface="Calibri"/>
              <a:sym typeface="Calibri"/>
            </a:endParaRPr>
          </a:p>
        </p:txBody>
      </p:sp>
      <p:sp>
        <p:nvSpPr>
          <p:cNvPr id="250" name="Google Shape;250;p21"/>
          <p:cNvSpPr/>
          <p:nvPr/>
        </p:nvSpPr>
        <p:spPr>
          <a:xfrm>
            <a:off x="6720840" y="2743200"/>
            <a:ext cx="4663440" cy="566928"/>
          </a:xfrm>
          <a:prstGeom prst="roundRect">
            <a:avLst>
              <a:gd fmla="val 8065" name="adj"/>
            </a:avLst>
          </a:prstGeom>
          <a:solidFill>
            <a:srgbClr val="DDDDD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1"/>
          <p:cNvSpPr/>
          <p:nvPr/>
        </p:nvSpPr>
        <p:spPr>
          <a:xfrm>
            <a:off x="6812280" y="278892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Arial"/>
              <a:buNone/>
            </a:pPr>
            <a:r>
              <a:rPr b="1" i="0" lang="en-US" sz="1400" u="none" cap="none" strike="noStrike">
                <a:solidFill>
                  <a:srgbClr val="111111"/>
                </a:solidFill>
                <a:latin typeface="Arial"/>
                <a:ea typeface="Arial"/>
                <a:cs typeface="Arial"/>
                <a:sym typeface="Arial"/>
              </a:rPr>
              <a:t>Full DeepPTR</a:t>
            </a:r>
            <a:endParaRPr b="0" i="0" sz="1400" u="none" cap="none" strike="noStrike">
              <a:solidFill>
                <a:schemeClr val="dk1"/>
              </a:solidFill>
              <a:latin typeface="Calibri"/>
              <a:ea typeface="Calibri"/>
              <a:cs typeface="Calibri"/>
              <a:sym typeface="Calibri"/>
            </a:endParaRPr>
          </a:p>
        </p:txBody>
      </p:sp>
      <p:sp>
        <p:nvSpPr>
          <p:cNvPr id="252" name="Google Shape;252;p21"/>
          <p:cNvSpPr/>
          <p:nvPr/>
        </p:nvSpPr>
        <p:spPr>
          <a:xfrm>
            <a:off x="9006840" y="278892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−0.39</a:t>
            </a:r>
            <a:endParaRPr b="0" i="0" sz="1400" u="none" cap="none" strike="noStrike">
              <a:solidFill>
                <a:schemeClr val="dk1"/>
              </a:solidFill>
              <a:latin typeface="Calibri"/>
              <a:ea typeface="Calibri"/>
              <a:cs typeface="Calibri"/>
              <a:sym typeface="Calibri"/>
            </a:endParaRPr>
          </a:p>
        </p:txBody>
      </p:sp>
      <p:sp>
        <p:nvSpPr>
          <p:cNvPr id="253" name="Google Shape;253;p21"/>
          <p:cNvSpPr/>
          <p:nvPr/>
        </p:nvSpPr>
        <p:spPr>
          <a:xfrm>
            <a:off x="10287000" y="2788920"/>
            <a:ext cx="10515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1" i="0" lang="en-US" sz="1400" u="none" cap="none" strike="noStrike">
                <a:solidFill>
                  <a:srgbClr val="111111"/>
                </a:solidFill>
                <a:latin typeface="Arial"/>
                <a:ea typeface="Arial"/>
                <a:cs typeface="Arial"/>
                <a:sym typeface="Arial"/>
              </a:rPr>
              <a:t>0.94</a:t>
            </a:r>
            <a:endParaRPr b="0" i="0" sz="1400" u="none" cap="none" strike="noStrike">
              <a:solidFill>
                <a:schemeClr val="dk1"/>
              </a:solidFill>
              <a:latin typeface="Calibri"/>
              <a:ea typeface="Calibri"/>
              <a:cs typeface="Calibri"/>
              <a:sym typeface="Calibri"/>
            </a:endParaRPr>
          </a:p>
        </p:txBody>
      </p:sp>
      <p:sp>
        <p:nvSpPr>
          <p:cNvPr id="254" name="Google Shape;254;p21"/>
          <p:cNvSpPr/>
          <p:nvPr/>
        </p:nvSpPr>
        <p:spPr>
          <a:xfrm>
            <a:off x="6812280" y="342900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kinetic → MLP</a:t>
            </a:r>
            <a:endParaRPr b="0" i="0" sz="1400" u="none" cap="none" strike="noStrike">
              <a:solidFill>
                <a:schemeClr val="dk1"/>
              </a:solidFill>
              <a:latin typeface="Calibri"/>
              <a:ea typeface="Calibri"/>
              <a:cs typeface="Calibri"/>
              <a:sym typeface="Calibri"/>
            </a:endParaRPr>
          </a:p>
        </p:txBody>
      </p:sp>
      <p:sp>
        <p:nvSpPr>
          <p:cNvPr id="255" name="Google Shape;255;p21"/>
          <p:cNvSpPr/>
          <p:nvPr/>
        </p:nvSpPr>
        <p:spPr>
          <a:xfrm>
            <a:off x="9006840" y="342900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−0.41</a:t>
            </a:r>
            <a:endParaRPr b="0" i="0" sz="1400" u="none" cap="none" strike="noStrike">
              <a:solidFill>
                <a:schemeClr val="dk1"/>
              </a:solidFill>
              <a:latin typeface="Calibri"/>
              <a:ea typeface="Calibri"/>
              <a:cs typeface="Calibri"/>
              <a:sym typeface="Calibri"/>
            </a:endParaRPr>
          </a:p>
        </p:txBody>
      </p:sp>
      <p:sp>
        <p:nvSpPr>
          <p:cNvPr id="256" name="Google Shape;256;p21"/>
          <p:cNvSpPr/>
          <p:nvPr/>
        </p:nvSpPr>
        <p:spPr>
          <a:xfrm>
            <a:off x="10287000" y="3429000"/>
            <a:ext cx="10515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1" i="0" lang="en-US" sz="1400" u="none" cap="none" strike="noStrike">
                <a:solidFill>
                  <a:srgbClr val="111111"/>
                </a:solidFill>
                <a:latin typeface="Arial"/>
                <a:ea typeface="Arial"/>
                <a:cs typeface="Arial"/>
                <a:sym typeface="Arial"/>
              </a:rPr>
              <a:t>0.42</a:t>
            </a:r>
            <a:endParaRPr b="0" i="0" sz="1400" u="none" cap="none" strike="noStrike">
              <a:solidFill>
                <a:schemeClr val="dk1"/>
              </a:solidFill>
              <a:latin typeface="Calibri"/>
              <a:ea typeface="Calibri"/>
              <a:cs typeface="Calibri"/>
              <a:sym typeface="Calibri"/>
            </a:endParaRPr>
          </a:p>
        </p:txBody>
      </p:sp>
      <p:sp>
        <p:nvSpPr>
          <p:cNvPr id="257" name="Google Shape;257;p21"/>
          <p:cNvSpPr/>
          <p:nvPr/>
        </p:nvSpPr>
        <p:spPr>
          <a:xfrm>
            <a:off x="6812280" y="406908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zₜ, zₚₜ merged</a:t>
            </a:r>
            <a:endParaRPr b="0" i="0" sz="1400" u="none" cap="none" strike="noStrike">
              <a:solidFill>
                <a:schemeClr val="dk1"/>
              </a:solidFill>
              <a:latin typeface="Calibri"/>
              <a:ea typeface="Calibri"/>
              <a:cs typeface="Calibri"/>
              <a:sym typeface="Calibri"/>
            </a:endParaRPr>
          </a:p>
        </p:txBody>
      </p:sp>
      <p:sp>
        <p:nvSpPr>
          <p:cNvPr id="258" name="Google Shape;258;p21"/>
          <p:cNvSpPr/>
          <p:nvPr/>
        </p:nvSpPr>
        <p:spPr>
          <a:xfrm>
            <a:off x="9006840" y="406908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−0.36</a:t>
            </a:r>
            <a:endParaRPr b="0" i="0" sz="1400" u="none" cap="none" strike="noStrike">
              <a:solidFill>
                <a:schemeClr val="dk1"/>
              </a:solidFill>
              <a:latin typeface="Calibri"/>
              <a:ea typeface="Calibri"/>
              <a:cs typeface="Calibri"/>
              <a:sym typeface="Calibri"/>
            </a:endParaRPr>
          </a:p>
        </p:txBody>
      </p:sp>
      <p:sp>
        <p:nvSpPr>
          <p:cNvPr id="259" name="Google Shape;259;p21"/>
          <p:cNvSpPr/>
          <p:nvPr/>
        </p:nvSpPr>
        <p:spPr>
          <a:xfrm>
            <a:off x="10287000" y="4069080"/>
            <a:ext cx="10515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1" i="0" lang="en-US" sz="1400" u="none" cap="none" strike="noStrike">
                <a:solidFill>
                  <a:srgbClr val="111111"/>
                </a:solidFill>
                <a:latin typeface="Arial"/>
                <a:ea typeface="Arial"/>
                <a:cs typeface="Arial"/>
                <a:sym typeface="Arial"/>
              </a:rPr>
              <a:t>0.31</a:t>
            </a:r>
            <a:endParaRPr b="0" i="0" sz="1400" u="none" cap="none" strike="noStrike">
              <a:solidFill>
                <a:schemeClr val="dk1"/>
              </a:solidFill>
              <a:latin typeface="Calibri"/>
              <a:ea typeface="Calibri"/>
              <a:cs typeface="Calibri"/>
              <a:sym typeface="Calibri"/>
            </a:endParaRPr>
          </a:p>
        </p:txBody>
      </p:sp>
      <p:sp>
        <p:nvSpPr>
          <p:cNvPr id="260" name="Google Shape;260;p21"/>
          <p:cNvSpPr/>
          <p:nvPr/>
        </p:nvSpPr>
        <p:spPr>
          <a:xfrm>
            <a:off x="6812280" y="470916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NB → Gaussian</a:t>
            </a:r>
            <a:endParaRPr b="0" i="0" sz="1400" u="none" cap="none" strike="noStrike">
              <a:solidFill>
                <a:schemeClr val="dk1"/>
              </a:solidFill>
              <a:latin typeface="Calibri"/>
              <a:ea typeface="Calibri"/>
              <a:cs typeface="Calibri"/>
              <a:sym typeface="Calibri"/>
            </a:endParaRPr>
          </a:p>
        </p:txBody>
      </p:sp>
      <p:sp>
        <p:nvSpPr>
          <p:cNvPr id="261" name="Google Shape;261;p21"/>
          <p:cNvSpPr/>
          <p:nvPr/>
        </p:nvSpPr>
        <p:spPr>
          <a:xfrm>
            <a:off x="9006840" y="4709160"/>
            <a:ext cx="12801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−0.29</a:t>
            </a:r>
            <a:endParaRPr b="0" i="0" sz="1400" u="none" cap="none" strike="noStrike">
              <a:solidFill>
                <a:schemeClr val="dk1"/>
              </a:solidFill>
              <a:latin typeface="Calibri"/>
              <a:ea typeface="Calibri"/>
              <a:cs typeface="Calibri"/>
              <a:sym typeface="Calibri"/>
            </a:endParaRPr>
          </a:p>
        </p:txBody>
      </p:sp>
      <p:sp>
        <p:nvSpPr>
          <p:cNvPr id="262" name="Google Shape;262;p21"/>
          <p:cNvSpPr/>
          <p:nvPr/>
        </p:nvSpPr>
        <p:spPr>
          <a:xfrm>
            <a:off x="10287000" y="4709160"/>
            <a:ext cx="1051560" cy="457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111111"/>
              </a:buClr>
              <a:buSzPts val="1400"/>
              <a:buFont typeface="Arial"/>
              <a:buNone/>
            </a:pPr>
            <a:r>
              <a:rPr b="0" i="0" lang="en-US" sz="1400" u="none" cap="none" strike="noStrike">
                <a:solidFill>
                  <a:srgbClr val="111111"/>
                </a:solidFill>
                <a:latin typeface="Arial"/>
                <a:ea typeface="Arial"/>
                <a:cs typeface="Arial"/>
                <a:sym typeface="Arial"/>
              </a:rPr>
              <a:t>0.78</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7" name="Shape 267"/>
        <p:cNvGrpSpPr/>
        <p:nvPr/>
      </p:nvGrpSpPr>
      <p:grpSpPr>
        <a:xfrm>
          <a:off x="0" y="0"/>
          <a:ext cx="0" cy="0"/>
          <a:chOff x="0" y="0"/>
          <a:chExt cx="0" cy="0"/>
        </a:xfrm>
      </p:grpSpPr>
      <p:sp>
        <p:nvSpPr>
          <p:cNvPr id="268" name="Google Shape;268;p22"/>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DeepPTR architecture — under the hood</a:t>
            </a:r>
            <a:endParaRPr b="0" i="0" sz="3000" u="none" cap="none" strike="noStrike">
              <a:solidFill>
                <a:schemeClr val="dk1"/>
              </a:solidFill>
              <a:latin typeface="Calibri"/>
              <a:ea typeface="Calibri"/>
              <a:cs typeface="Calibri"/>
              <a:sym typeface="Calibri"/>
            </a:endParaRPr>
          </a:p>
        </p:txBody>
      </p:sp>
      <p:sp>
        <p:nvSpPr>
          <p:cNvPr id="269" name="Google Shape;269;p22"/>
          <p:cNvSpPr/>
          <p:nvPr/>
        </p:nvSpPr>
        <p:spPr>
          <a:xfrm>
            <a:off x="502920" y="2880360"/>
            <a:ext cx="1691640" cy="914400"/>
          </a:xfrm>
          <a:prstGeom prst="roundRect">
            <a:avLst>
              <a:gd fmla="val 7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2"/>
          <p:cNvSpPr/>
          <p:nvPr/>
        </p:nvSpPr>
        <p:spPr>
          <a:xfrm>
            <a:off x="502920" y="2880360"/>
            <a:ext cx="1691640" cy="91440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300"/>
              <a:buFont typeface="Arial"/>
              <a:buNone/>
            </a:pPr>
            <a:r>
              <a:rPr b="1" i="0" lang="en-US" sz="1300" u="none" cap="none" strike="noStrike">
                <a:solidFill>
                  <a:srgbClr val="111111"/>
                </a:solidFill>
                <a:latin typeface="Arial"/>
                <a:ea typeface="Arial"/>
                <a:cs typeface="Arial"/>
                <a:sym typeface="Arial"/>
              </a:rPr>
              <a:t>Counts</a:t>
            </a:r>
            <a:endParaRPr b="0" i="0" sz="13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111111"/>
              </a:buClr>
              <a:buSzPts val="1100"/>
              <a:buFont typeface="Arial"/>
              <a:buNone/>
            </a:pPr>
            <a:r>
              <a:rPr b="0" i="0" lang="en-US" sz="1100" u="none" cap="none" strike="noStrike">
                <a:solidFill>
                  <a:srgbClr val="111111"/>
                </a:solidFill>
                <a:latin typeface="Arial"/>
                <a:ea typeface="Arial"/>
                <a:cs typeface="Arial"/>
                <a:sym typeface="Arial"/>
              </a:rPr>
              <a:t>log1p(s), log1p(u)</a:t>
            </a:r>
            <a:endParaRPr b="0" i="0" sz="13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1000"/>
              <a:buFont typeface="Arial"/>
              <a:buNone/>
            </a:pPr>
            <a:r>
              <a:rPr b="0" i="0" lang="en-US" sz="1000" u="none" cap="none" strike="noStrike">
                <a:solidFill>
                  <a:srgbClr val="6A6A6A"/>
                </a:solidFill>
                <a:latin typeface="Arial"/>
                <a:ea typeface="Arial"/>
                <a:cs typeface="Arial"/>
                <a:sym typeface="Arial"/>
              </a:rPr>
              <a:t>(2G dims)</a:t>
            </a:r>
            <a:endParaRPr b="0" i="0" sz="1300" u="none" cap="none" strike="noStrike">
              <a:solidFill>
                <a:schemeClr val="dk1"/>
              </a:solidFill>
              <a:latin typeface="Calibri"/>
              <a:ea typeface="Calibri"/>
              <a:cs typeface="Calibri"/>
              <a:sym typeface="Calibri"/>
            </a:endParaRPr>
          </a:p>
        </p:txBody>
      </p:sp>
      <p:cxnSp>
        <p:nvCxnSpPr>
          <p:cNvPr id="271" name="Google Shape;271;p22"/>
          <p:cNvCxnSpPr/>
          <p:nvPr/>
        </p:nvCxnSpPr>
        <p:spPr>
          <a:xfrm>
            <a:off x="2240280" y="3337560"/>
            <a:ext cx="411480" cy="0"/>
          </a:xfrm>
          <a:prstGeom prst="straightConnector1">
            <a:avLst/>
          </a:prstGeom>
          <a:noFill/>
          <a:ln cap="flat" cmpd="sng" w="25400">
            <a:solidFill>
              <a:srgbClr val="000000"/>
            </a:solidFill>
            <a:prstDash val="solid"/>
            <a:round/>
            <a:headEnd len="sm" w="sm" type="none"/>
            <a:tailEnd len="med" w="med" type="triangle"/>
          </a:ln>
        </p:spPr>
      </p:cxnSp>
      <p:sp>
        <p:nvSpPr>
          <p:cNvPr id="272" name="Google Shape;272;p22"/>
          <p:cNvSpPr/>
          <p:nvPr/>
        </p:nvSpPr>
        <p:spPr>
          <a:xfrm>
            <a:off x="2697480" y="2880360"/>
            <a:ext cx="1828800" cy="914400"/>
          </a:xfrm>
          <a:prstGeom prst="roundRect">
            <a:avLst>
              <a:gd fmla="val 7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
          <p:cNvSpPr/>
          <p:nvPr/>
        </p:nvSpPr>
        <p:spPr>
          <a:xfrm>
            <a:off x="2697480" y="2880360"/>
            <a:ext cx="1828800" cy="914400"/>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300"/>
              <a:buFont typeface="Arial"/>
              <a:buNone/>
            </a:pPr>
            <a:r>
              <a:rPr b="1" i="0" lang="en-US" sz="1300" u="none" cap="none" strike="noStrike">
                <a:solidFill>
                  <a:srgbClr val="111111"/>
                </a:solidFill>
                <a:latin typeface="Arial"/>
                <a:ea typeface="Arial"/>
                <a:cs typeface="Arial"/>
                <a:sym typeface="Arial"/>
              </a:rPr>
              <a:t>Encoder</a:t>
            </a:r>
            <a:endParaRPr b="0" i="0" sz="13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111111"/>
              </a:buClr>
              <a:buSzPts val="1100"/>
              <a:buFont typeface="Arial"/>
              <a:buNone/>
            </a:pPr>
            <a:r>
              <a:rPr lang="en-US" sz="1000">
                <a:solidFill>
                  <a:schemeClr val="dk1"/>
                </a:solidFill>
              </a:rPr>
              <a:t>2-layer MLP, hidden 256  </a:t>
            </a:r>
            <a:endParaRPr b="0" i="0" sz="12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950"/>
              <a:buFont typeface="Arial"/>
              <a:buNone/>
            </a:pPr>
            <a:r>
              <a:rPr b="0" i="0" lang="en-US" sz="950" u="none" cap="none" strike="noStrike">
                <a:solidFill>
                  <a:srgbClr val="6A6A6A"/>
                </a:solidFill>
                <a:latin typeface="Arial"/>
                <a:ea typeface="Arial"/>
                <a:cs typeface="Arial"/>
                <a:sym typeface="Arial"/>
              </a:rPr>
              <a:t>LayerNorm·ReLU·dropout</a:t>
            </a:r>
            <a:endParaRPr b="0" i="0" sz="1300" u="none" cap="none" strike="noStrike">
              <a:solidFill>
                <a:schemeClr val="dk1"/>
              </a:solidFill>
              <a:latin typeface="Calibri"/>
              <a:ea typeface="Calibri"/>
              <a:cs typeface="Calibri"/>
              <a:sym typeface="Calibri"/>
            </a:endParaRPr>
          </a:p>
        </p:txBody>
      </p:sp>
      <p:cxnSp>
        <p:nvCxnSpPr>
          <p:cNvPr id="274" name="Google Shape;274;p22"/>
          <p:cNvCxnSpPr/>
          <p:nvPr/>
        </p:nvCxnSpPr>
        <p:spPr>
          <a:xfrm>
            <a:off x="4553712" y="3337560"/>
            <a:ext cx="365760" cy="0"/>
          </a:xfrm>
          <a:prstGeom prst="straightConnector1">
            <a:avLst/>
          </a:prstGeom>
          <a:noFill/>
          <a:ln cap="flat" cmpd="sng" w="25400">
            <a:solidFill>
              <a:srgbClr val="000000"/>
            </a:solidFill>
            <a:prstDash val="solid"/>
            <a:round/>
            <a:headEnd len="sm" w="sm" type="none"/>
            <a:tailEnd len="med" w="med" type="triangle"/>
          </a:ln>
        </p:spPr>
      </p:cxnSp>
      <p:sp>
        <p:nvSpPr>
          <p:cNvPr id="275" name="Google Shape;275;p22"/>
          <p:cNvSpPr/>
          <p:nvPr/>
        </p:nvSpPr>
        <p:spPr>
          <a:xfrm>
            <a:off x="4956048" y="2286000"/>
            <a:ext cx="1600200" cy="658368"/>
          </a:xfrm>
          <a:prstGeom prst="roundRect">
            <a:avLst>
              <a:gd fmla="val 9722"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2"/>
          <p:cNvSpPr/>
          <p:nvPr/>
        </p:nvSpPr>
        <p:spPr>
          <a:xfrm>
            <a:off x="4956048" y="2286000"/>
            <a:ext cx="1600200" cy="658368"/>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200"/>
              <a:buFont typeface="Arial"/>
              <a:buNone/>
            </a:pPr>
            <a:r>
              <a:rPr b="1" lang="en-US" sz="1200">
                <a:solidFill>
                  <a:srgbClr val="111111"/>
                </a:solidFill>
              </a:rPr>
              <a:t>z_T ∈ ℝ²⁰ </a:t>
            </a:r>
            <a:endParaRPr b="0" i="0" sz="12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1000"/>
              <a:buFont typeface="Arial"/>
              <a:buNone/>
            </a:pPr>
            <a:r>
              <a:rPr b="0" i="0" lang="en-US" sz="1000" u="none" cap="none" strike="noStrike">
                <a:solidFill>
                  <a:srgbClr val="6A6A6A"/>
                </a:solidFill>
                <a:latin typeface="Arial"/>
                <a:ea typeface="Arial"/>
                <a:cs typeface="Arial"/>
                <a:sym typeface="Arial"/>
              </a:rPr>
              <a:t>transcription</a:t>
            </a:r>
            <a:endParaRPr b="0" i="0" sz="1200" u="none" cap="none" strike="noStrike">
              <a:solidFill>
                <a:schemeClr val="dk1"/>
              </a:solidFill>
              <a:latin typeface="Calibri"/>
              <a:ea typeface="Calibri"/>
              <a:cs typeface="Calibri"/>
              <a:sym typeface="Calibri"/>
            </a:endParaRPr>
          </a:p>
        </p:txBody>
      </p:sp>
      <p:sp>
        <p:nvSpPr>
          <p:cNvPr id="277" name="Google Shape;277;p22"/>
          <p:cNvSpPr/>
          <p:nvPr/>
        </p:nvSpPr>
        <p:spPr>
          <a:xfrm>
            <a:off x="4956048" y="3566160"/>
            <a:ext cx="1600200" cy="658368"/>
          </a:xfrm>
          <a:prstGeom prst="roundRect">
            <a:avLst>
              <a:gd fmla="val 9722" name="adj"/>
            </a:avLst>
          </a:prstGeom>
          <a:solidFill>
            <a:srgbClr val="F2F2F2"/>
          </a:solidFill>
          <a:ln cap="flat" cmpd="sng" w="254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2"/>
          <p:cNvSpPr/>
          <p:nvPr/>
        </p:nvSpPr>
        <p:spPr>
          <a:xfrm>
            <a:off x="4956048" y="3566160"/>
            <a:ext cx="1600200" cy="658368"/>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200"/>
              <a:buFont typeface="Arial"/>
              <a:buNone/>
            </a:pPr>
            <a:r>
              <a:rPr b="1" lang="en-US" sz="1200">
                <a:solidFill>
                  <a:srgbClr val="111111"/>
                </a:solidFill>
              </a:rPr>
              <a:t>z_PT ∈ ℝ¹⁰ </a:t>
            </a:r>
            <a:endParaRPr b="0" i="0" sz="12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1000"/>
              <a:buFont typeface="Arial"/>
              <a:buNone/>
            </a:pPr>
            <a:r>
              <a:rPr b="0" i="0" lang="en-US" sz="1000" u="none" cap="none" strike="noStrike">
                <a:solidFill>
                  <a:srgbClr val="6A6A6A"/>
                </a:solidFill>
                <a:latin typeface="Arial"/>
                <a:ea typeface="Arial"/>
                <a:cs typeface="Arial"/>
                <a:sym typeface="Arial"/>
              </a:rPr>
              <a:t>post-transcription</a:t>
            </a:r>
            <a:endParaRPr b="0" i="0" sz="1200" u="none" cap="none" strike="noStrike">
              <a:solidFill>
                <a:schemeClr val="dk1"/>
              </a:solidFill>
              <a:latin typeface="Calibri"/>
              <a:ea typeface="Calibri"/>
              <a:cs typeface="Calibri"/>
              <a:sym typeface="Calibri"/>
            </a:endParaRPr>
          </a:p>
        </p:txBody>
      </p:sp>
      <p:cxnSp>
        <p:nvCxnSpPr>
          <p:cNvPr id="279" name="Google Shape;279;p22"/>
          <p:cNvCxnSpPr/>
          <p:nvPr/>
        </p:nvCxnSpPr>
        <p:spPr>
          <a:xfrm>
            <a:off x="6583680" y="2615184"/>
            <a:ext cx="365760" cy="0"/>
          </a:xfrm>
          <a:prstGeom prst="straightConnector1">
            <a:avLst/>
          </a:prstGeom>
          <a:noFill/>
          <a:ln cap="flat" cmpd="sng" w="25400">
            <a:solidFill>
              <a:srgbClr val="000000"/>
            </a:solidFill>
            <a:prstDash val="solid"/>
            <a:round/>
            <a:headEnd len="sm" w="sm" type="none"/>
            <a:tailEnd len="med" w="med" type="triangle"/>
          </a:ln>
        </p:spPr>
      </p:cxnSp>
      <p:cxnSp>
        <p:nvCxnSpPr>
          <p:cNvPr id="280" name="Google Shape;280;p22"/>
          <p:cNvCxnSpPr/>
          <p:nvPr/>
        </p:nvCxnSpPr>
        <p:spPr>
          <a:xfrm>
            <a:off x="6583680" y="3895344"/>
            <a:ext cx="365760" cy="0"/>
          </a:xfrm>
          <a:prstGeom prst="straightConnector1">
            <a:avLst/>
          </a:prstGeom>
          <a:noFill/>
          <a:ln cap="flat" cmpd="sng" w="25400">
            <a:solidFill>
              <a:srgbClr val="000000"/>
            </a:solidFill>
            <a:prstDash val="solid"/>
            <a:round/>
            <a:headEnd len="sm" w="sm" type="none"/>
            <a:tailEnd len="med" w="med" type="triangle"/>
          </a:ln>
        </p:spPr>
      </p:cxnSp>
      <p:sp>
        <p:nvSpPr>
          <p:cNvPr id="281" name="Google Shape;281;p22"/>
          <p:cNvSpPr/>
          <p:nvPr/>
        </p:nvSpPr>
        <p:spPr>
          <a:xfrm>
            <a:off x="6995160" y="2148840"/>
            <a:ext cx="2788920" cy="2240280"/>
          </a:xfrm>
          <a:prstGeom prst="roundRect">
            <a:avLst>
              <a:gd fmla="val 3265" name="adj"/>
            </a:avLst>
          </a:prstGeom>
          <a:solidFill>
            <a:srgbClr val="F2F2F2"/>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2"/>
          <p:cNvSpPr/>
          <p:nvPr/>
        </p:nvSpPr>
        <p:spPr>
          <a:xfrm>
            <a:off x="6995160" y="2240280"/>
            <a:ext cx="2788920" cy="320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11111"/>
              </a:buClr>
              <a:buSzPts val="1300"/>
              <a:buFont typeface="Arial"/>
              <a:buNone/>
            </a:pPr>
            <a:r>
              <a:rPr b="1" i="0" lang="en-US" sz="1300" u="none" cap="none" strike="noStrike">
                <a:solidFill>
                  <a:srgbClr val="111111"/>
                </a:solidFill>
                <a:latin typeface="Arial"/>
                <a:ea typeface="Arial"/>
                <a:cs typeface="Arial"/>
                <a:sym typeface="Arial"/>
              </a:rPr>
              <a:t>Kinetic decoder</a:t>
            </a:r>
            <a:endParaRPr b="0" i="0" sz="1300" u="none" cap="none" strike="noStrike">
              <a:solidFill>
                <a:schemeClr val="dk1"/>
              </a:solidFill>
              <a:latin typeface="Calibri"/>
              <a:ea typeface="Calibri"/>
              <a:cs typeface="Calibri"/>
              <a:sym typeface="Calibri"/>
            </a:endParaRPr>
          </a:p>
        </p:txBody>
      </p:sp>
      <p:sp>
        <p:nvSpPr>
          <p:cNvPr id="283" name="Google Shape;283;p22"/>
          <p:cNvSpPr/>
          <p:nvPr/>
        </p:nvSpPr>
        <p:spPr>
          <a:xfrm>
            <a:off x="7132320" y="2578608"/>
            <a:ext cx="2560320" cy="1737360"/>
          </a:xfrm>
          <a:prstGeom prst="rect">
            <a:avLst/>
          </a:prstGeom>
          <a:noFill/>
          <a:ln>
            <a:noFill/>
          </a:ln>
        </p:spPr>
        <p:txBody>
          <a:bodyPr anchorCtr="0" anchor="t" bIns="0" lIns="0" spcFirstLastPara="1" rIns="0" wrap="square" tIns="0">
            <a:noAutofit/>
          </a:bodyPr>
          <a:lstStyle/>
          <a:p>
            <a:pPr indent="0" lvl="0" marL="0" marR="0" rtl="0" algn="l">
              <a:lnSpc>
                <a:spcPct val="112000"/>
              </a:lnSpc>
              <a:spcBef>
                <a:spcPts val="0"/>
              </a:spcBef>
              <a:spcAft>
                <a:spcPts val="0"/>
              </a:spcAft>
              <a:buClr>
                <a:srgbClr val="111111"/>
              </a:buClr>
              <a:buSzPts val="1150"/>
              <a:buFont typeface="Arial"/>
              <a:buNone/>
            </a:pPr>
            <a:r>
              <a:rPr b="0" i="0" lang="en-US" sz="1150" u="none" cap="none" strike="noStrike">
                <a:solidFill>
                  <a:srgbClr val="111111"/>
                </a:solidFill>
                <a:latin typeface="Arial"/>
                <a:ea typeface="Arial"/>
                <a:cs typeface="Arial"/>
                <a:sym typeface="Arial"/>
              </a:rPr>
              <a:t>z_T → α   (transcription)</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150"/>
              <a:buFont typeface="Arial"/>
              <a:buNone/>
            </a:pPr>
            <a:r>
              <a:rPr b="1" i="0" lang="en-US" sz="1150" u="none" cap="none" strike="noStrike">
                <a:solidFill>
                  <a:srgbClr val="111111"/>
                </a:solidFill>
                <a:latin typeface="Arial"/>
                <a:ea typeface="Arial"/>
                <a:cs typeface="Arial"/>
                <a:sym typeface="Arial"/>
              </a:rPr>
              <a:t>z_PT → γ   (degradation)</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150"/>
              <a:buFont typeface="Arial"/>
              <a:buNone/>
            </a:pPr>
            <a:r>
              <a:rPr b="0" i="0" lang="en-US" sz="1150" u="none" cap="none" strike="noStrike">
                <a:solidFill>
                  <a:srgbClr val="111111"/>
                </a:solidFill>
                <a:latin typeface="Arial"/>
                <a:ea typeface="Arial"/>
                <a:cs typeface="Arial"/>
                <a:sym typeface="Arial"/>
              </a:rPr>
              <a:t>β   gene param (warm-started)</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BBBBBB"/>
              </a:buClr>
              <a:buSzPts val="1150"/>
              <a:buFont typeface="Arial"/>
              <a:buNone/>
            </a:pPr>
            <a:r>
              <a:rPr b="0" i="0" lang="en-US" sz="1150" u="none" cap="none" strike="noStrike">
                <a:solidFill>
                  <a:srgbClr val="BBBBBB"/>
                </a:solidFill>
                <a:latin typeface="Arial"/>
                <a:ea typeface="Arial"/>
                <a:cs typeface="Arial"/>
                <a:sym typeface="Arial"/>
              </a:rPr>
              <a:t>─────────────</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111111"/>
              </a:buClr>
              <a:buSzPts val="1150"/>
              <a:buFont typeface="Arial"/>
              <a:buNone/>
            </a:pPr>
            <a:r>
              <a:rPr b="0" i="0" lang="en-US" sz="1150" u="none" cap="none" strike="noStrike">
                <a:solidFill>
                  <a:srgbClr val="111111"/>
                </a:solidFill>
                <a:latin typeface="Arial"/>
                <a:ea typeface="Arial"/>
                <a:cs typeface="Arial"/>
                <a:sym typeface="Arial"/>
              </a:rPr>
              <a:t>ρᵤ = α/β,  ρₛ = α/γ</a:t>
            </a:r>
            <a:endParaRPr b="0" i="0" sz="1150" u="none" cap="none" strike="noStrike">
              <a:solidFill>
                <a:schemeClr val="dk1"/>
              </a:solidFill>
              <a:latin typeface="Calibri"/>
              <a:ea typeface="Calibri"/>
              <a:cs typeface="Calibri"/>
              <a:sym typeface="Calibri"/>
            </a:endParaRPr>
          </a:p>
          <a:p>
            <a:pPr indent="0" lvl="0" marL="0" marR="0" rtl="0" algn="l">
              <a:lnSpc>
                <a:spcPct val="112000"/>
              </a:lnSpc>
              <a:spcBef>
                <a:spcPts val="0"/>
              </a:spcBef>
              <a:spcAft>
                <a:spcPts val="0"/>
              </a:spcAft>
              <a:buClr>
                <a:srgbClr val="6A6A6A"/>
              </a:buClr>
              <a:buSzPts val="1150"/>
              <a:buFont typeface="Arial"/>
              <a:buNone/>
            </a:pPr>
            <a:r>
              <a:rPr b="0" i="0" lang="en-US" sz="1150" u="none" cap="none" strike="noStrike">
                <a:solidFill>
                  <a:srgbClr val="6A6A6A"/>
                </a:solidFill>
                <a:latin typeface="Arial"/>
                <a:ea typeface="Arial"/>
                <a:cs typeface="Arial"/>
                <a:sym typeface="Arial"/>
              </a:rPr>
              <a:t>× library size</a:t>
            </a:r>
            <a:endParaRPr b="0" i="0" sz="1150" u="none" cap="none" strike="noStrike">
              <a:solidFill>
                <a:srgbClr val="6A6A6A"/>
              </a:solidFill>
              <a:latin typeface="Arial"/>
              <a:ea typeface="Arial"/>
              <a:cs typeface="Arial"/>
              <a:sym typeface="Arial"/>
            </a:endParaRPr>
          </a:p>
          <a:p>
            <a:pPr indent="0" lvl="0" marL="0" marR="0" rtl="0" algn="l">
              <a:lnSpc>
                <a:spcPct val="112000"/>
              </a:lnSpc>
              <a:spcBef>
                <a:spcPts val="0"/>
              </a:spcBef>
              <a:spcAft>
                <a:spcPts val="0"/>
              </a:spcAft>
              <a:buClr>
                <a:srgbClr val="6A6A6A"/>
              </a:buClr>
              <a:buSzPts val="1150"/>
              <a:buFont typeface="Arial"/>
              <a:buNone/>
            </a:pPr>
            <a:r>
              <a:rPr lang="en-US" sz="1150">
                <a:solidFill>
                  <a:srgbClr val="6A6A6A"/>
                </a:solidFill>
              </a:rPr>
              <a:t>Decoder fˢ: hidden 256 · fᵞ: hidden 128</a:t>
            </a:r>
            <a:endParaRPr sz="1150">
              <a:solidFill>
                <a:srgbClr val="6A6A6A"/>
              </a:solidFill>
            </a:endParaRPr>
          </a:p>
          <a:p>
            <a:pPr indent="0" lvl="0" marL="0" marR="0" rtl="0" algn="l">
              <a:lnSpc>
                <a:spcPct val="112000"/>
              </a:lnSpc>
              <a:spcBef>
                <a:spcPts val="0"/>
              </a:spcBef>
              <a:spcAft>
                <a:spcPts val="0"/>
              </a:spcAft>
              <a:buClr>
                <a:srgbClr val="6A6A6A"/>
              </a:buClr>
              <a:buSzPts val="1150"/>
              <a:buFont typeface="Arial"/>
              <a:buNone/>
            </a:pPr>
            <a:r>
              <a:rPr lang="en-US" sz="1150">
                <a:solidFill>
                  <a:srgbClr val="6A6A6A"/>
                </a:solidFill>
              </a:rPr>
              <a:t>Adam lr 1e−3 · KL warm-up 50 epochs · 200 epochs total </a:t>
            </a:r>
            <a:endParaRPr sz="1150">
              <a:solidFill>
                <a:srgbClr val="6A6A6A"/>
              </a:solidFill>
            </a:endParaRPr>
          </a:p>
        </p:txBody>
      </p:sp>
      <p:cxnSp>
        <p:nvCxnSpPr>
          <p:cNvPr id="284" name="Google Shape;284;p22"/>
          <p:cNvCxnSpPr/>
          <p:nvPr/>
        </p:nvCxnSpPr>
        <p:spPr>
          <a:xfrm>
            <a:off x="9802368" y="2615184"/>
            <a:ext cx="365760" cy="0"/>
          </a:xfrm>
          <a:prstGeom prst="straightConnector1">
            <a:avLst/>
          </a:prstGeom>
          <a:noFill/>
          <a:ln cap="flat" cmpd="sng" w="25400">
            <a:solidFill>
              <a:srgbClr val="000000"/>
            </a:solidFill>
            <a:prstDash val="solid"/>
            <a:round/>
            <a:headEnd len="sm" w="sm" type="none"/>
            <a:tailEnd len="med" w="med" type="triangle"/>
          </a:ln>
        </p:spPr>
      </p:cxnSp>
      <p:cxnSp>
        <p:nvCxnSpPr>
          <p:cNvPr id="285" name="Google Shape;285;p22"/>
          <p:cNvCxnSpPr/>
          <p:nvPr/>
        </p:nvCxnSpPr>
        <p:spPr>
          <a:xfrm>
            <a:off x="9802368" y="3895344"/>
            <a:ext cx="365760" cy="0"/>
          </a:xfrm>
          <a:prstGeom prst="straightConnector1">
            <a:avLst/>
          </a:prstGeom>
          <a:noFill/>
          <a:ln cap="flat" cmpd="sng" w="25400">
            <a:solidFill>
              <a:srgbClr val="000000"/>
            </a:solidFill>
            <a:prstDash val="solid"/>
            <a:round/>
            <a:headEnd len="sm" w="sm" type="none"/>
            <a:tailEnd len="med" w="med" type="triangle"/>
          </a:ln>
        </p:spPr>
      </p:cxnSp>
      <p:sp>
        <p:nvSpPr>
          <p:cNvPr id="286" name="Google Shape;286;p22"/>
          <p:cNvSpPr/>
          <p:nvPr/>
        </p:nvSpPr>
        <p:spPr>
          <a:xfrm>
            <a:off x="10195560" y="2286000"/>
            <a:ext cx="1737360" cy="658368"/>
          </a:xfrm>
          <a:prstGeom prst="roundRect">
            <a:avLst>
              <a:gd fmla="val 9722"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2"/>
          <p:cNvSpPr/>
          <p:nvPr/>
        </p:nvSpPr>
        <p:spPr>
          <a:xfrm>
            <a:off x="10195560" y="2286000"/>
            <a:ext cx="1737360" cy="658368"/>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200"/>
              <a:buFont typeface="Arial"/>
              <a:buNone/>
            </a:pPr>
            <a:r>
              <a:rPr b="1" i="0" lang="en-US" sz="1200" u="none" cap="none" strike="noStrike">
                <a:solidFill>
                  <a:srgbClr val="111111"/>
                </a:solidFill>
                <a:latin typeface="Arial"/>
                <a:ea typeface="Arial"/>
                <a:cs typeface="Arial"/>
                <a:sym typeface="Arial"/>
              </a:rPr>
              <a:t>NB(μᵤ, θᵤ)</a:t>
            </a:r>
            <a:endParaRPr b="0" i="0" sz="12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1000"/>
              <a:buFont typeface="Arial"/>
              <a:buNone/>
            </a:pPr>
            <a:r>
              <a:rPr b="0" i="0" lang="en-US" sz="1000" u="none" cap="none" strike="noStrike">
                <a:solidFill>
                  <a:srgbClr val="6A6A6A"/>
                </a:solidFill>
                <a:latin typeface="Arial"/>
                <a:ea typeface="Arial"/>
                <a:cs typeface="Arial"/>
                <a:sym typeface="Arial"/>
              </a:rPr>
              <a:t>→ unspliced u</a:t>
            </a:r>
            <a:endParaRPr b="0" i="0" sz="1200" u="none" cap="none" strike="noStrike">
              <a:solidFill>
                <a:schemeClr val="dk1"/>
              </a:solidFill>
              <a:latin typeface="Calibri"/>
              <a:ea typeface="Calibri"/>
              <a:cs typeface="Calibri"/>
              <a:sym typeface="Calibri"/>
            </a:endParaRPr>
          </a:p>
        </p:txBody>
      </p:sp>
      <p:sp>
        <p:nvSpPr>
          <p:cNvPr id="288" name="Google Shape;288;p22"/>
          <p:cNvSpPr/>
          <p:nvPr/>
        </p:nvSpPr>
        <p:spPr>
          <a:xfrm>
            <a:off x="10195560" y="3566160"/>
            <a:ext cx="1737360" cy="658368"/>
          </a:xfrm>
          <a:prstGeom prst="roundRect">
            <a:avLst>
              <a:gd fmla="val 9722"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2"/>
          <p:cNvSpPr/>
          <p:nvPr/>
        </p:nvSpPr>
        <p:spPr>
          <a:xfrm>
            <a:off x="10195560" y="3566160"/>
            <a:ext cx="1737360" cy="658368"/>
          </a:xfrm>
          <a:prstGeom prst="rect">
            <a:avLst/>
          </a:prstGeom>
          <a:noFill/>
          <a:ln>
            <a:noFill/>
          </a:ln>
        </p:spPr>
        <p:txBody>
          <a:bodyPr anchorCtr="0" anchor="ctr" bIns="0" lIns="0" spcFirstLastPara="1" rIns="0" wrap="square" tIns="0">
            <a:noAutofit/>
          </a:bodyPr>
          <a:lstStyle/>
          <a:p>
            <a:pPr indent="0" lvl="0" marL="0" marR="0" rtl="0" algn="ctr">
              <a:lnSpc>
                <a:spcPct val="105000"/>
              </a:lnSpc>
              <a:spcBef>
                <a:spcPts val="0"/>
              </a:spcBef>
              <a:spcAft>
                <a:spcPts val="0"/>
              </a:spcAft>
              <a:buClr>
                <a:srgbClr val="111111"/>
              </a:buClr>
              <a:buSzPts val="1200"/>
              <a:buFont typeface="Arial"/>
              <a:buNone/>
            </a:pPr>
            <a:r>
              <a:rPr b="1" i="0" lang="en-US" sz="1200" u="none" cap="none" strike="noStrike">
                <a:solidFill>
                  <a:srgbClr val="111111"/>
                </a:solidFill>
                <a:latin typeface="Arial"/>
                <a:ea typeface="Arial"/>
                <a:cs typeface="Arial"/>
                <a:sym typeface="Arial"/>
              </a:rPr>
              <a:t>NB(μₛ, θₛ)</a:t>
            </a:r>
            <a:endParaRPr b="0" i="0" sz="1200" u="none" cap="none" strike="noStrike">
              <a:solidFill>
                <a:schemeClr val="dk1"/>
              </a:solidFill>
              <a:latin typeface="Calibri"/>
              <a:ea typeface="Calibri"/>
              <a:cs typeface="Calibri"/>
              <a:sym typeface="Calibri"/>
            </a:endParaRPr>
          </a:p>
          <a:p>
            <a:pPr indent="0" lvl="0" marL="0" marR="0" rtl="0" algn="ctr">
              <a:lnSpc>
                <a:spcPct val="105000"/>
              </a:lnSpc>
              <a:spcBef>
                <a:spcPts val="0"/>
              </a:spcBef>
              <a:spcAft>
                <a:spcPts val="0"/>
              </a:spcAft>
              <a:buClr>
                <a:srgbClr val="6A6A6A"/>
              </a:buClr>
              <a:buSzPts val="1000"/>
              <a:buFont typeface="Arial"/>
              <a:buNone/>
            </a:pPr>
            <a:r>
              <a:rPr b="0" i="0" lang="en-US" sz="1000" u="none" cap="none" strike="noStrike">
                <a:solidFill>
                  <a:srgbClr val="6A6A6A"/>
                </a:solidFill>
                <a:latin typeface="Arial"/>
                <a:ea typeface="Arial"/>
                <a:cs typeface="Arial"/>
                <a:sym typeface="Arial"/>
              </a:rPr>
              <a:t>→ spliced s</a:t>
            </a:r>
            <a:endParaRPr b="0" i="0" sz="1200" u="none" cap="none" strike="noStrike">
              <a:solidFill>
                <a:schemeClr val="dk1"/>
              </a:solidFill>
              <a:latin typeface="Calibri"/>
              <a:ea typeface="Calibri"/>
              <a:cs typeface="Calibri"/>
              <a:sym typeface="Calibri"/>
            </a:endParaRPr>
          </a:p>
        </p:txBody>
      </p:sp>
      <p:sp>
        <p:nvSpPr>
          <p:cNvPr id="290" name="Google Shape;290;p22"/>
          <p:cNvSpPr/>
          <p:nvPr/>
        </p:nvSpPr>
        <p:spPr>
          <a:xfrm>
            <a:off x="502920" y="5257800"/>
            <a:ext cx="11201400" cy="914400"/>
          </a:xfrm>
          <a:prstGeom prst="roundRect">
            <a:avLst>
              <a:gd fmla="val 9000" name="adj"/>
            </a:avLst>
          </a:prstGeom>
          <a:solidFill>
            <a:srgbClr val="FFFFFF"/>
          </a:solidFill>
          <a:ln cap="flat" cmpd="sng" w="177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22"/>
          <p:cNvSpPr/>
          <p:nvPr/>
        </p:nvSpPr>
        <p:spPr>
          <a:xfrm>
            <a:off x="777240" y="5349240"/>
            <a:ext cx="10698480" cy="73152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350"/>
              <a:buFont typeface="Arial"/>
              <a:buNone/>
            </a:pPr>
            <a:r>
              <a:rPr b="1" i="0" lang="en-US" sz="1350" u="none" cap="none" strike="noStrike">
                <a:solidFill>
                  <a:srgbClr val="000000"/>
                </a:solidFill>
                <a:latin typeface="Arial"/>
                <a:ea typeface="Arial"/>
                <a:cs typeface="Arial"/>
                <a:sym typeface="Arial"/>
              </a:rPr>
              <a:t>Identifiability by construction:  </a:t>
            </a:r>
            <a:r>
              <a:rPr b="0" i="0" lang="en-US" sz="1350" u="none" cap="none" strike="noStrike">
                <a:solidFill>
                  <a:srgbClr val="3A3A3A"/>
                </a:solidFill>
                <a:latin typeface="Arial"/>
                <a:ea typeface="Arial"/>
                <a:cs typeface="Arial"/>
                <a:sym typeface="Arial"/>
              </a:rPr>
              <a:t>degradation reaches the spliced-count mean only through z_PT → γ. The unspliced mean is not a free network — it is fixed by the same kinetic identity, so z_PT cannot drift into an arbitrary latent direction.</a:t>
            </a:r>
            <a:endParaRPr b="0" i="0" sz="135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pic>
        <p:nvPicPr>
          <p:cNvPr id="297" name="Google Shape;297;p23"/>
          <p:cNvPicPr preferRelativeResize="0"/>
          <p:nvPr/>
        </p:nvPicPr>
        <p:blipFill>
          <a:blip r:embed="rId3">
            <a:alphaModFix/>
          </a:blip>
          <a:stretch>
            <a:fillRect/>
          </a:stretch>
        </p:blipFill>
        <p:spPr>
          <a:xfrm>
            <a:off x="152400" y="460100"/>
            <a:ext cx="11887201" cy="593779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2" name="Shape 302"/>
        <p:cNvGrpSpPr/>
        <p:nvPr/>
      </p:nvGrpSpPr>
      <p:grpSpPr>
        <a:xfrm>
          <a:off x="0" y="0"/>
          <a:ext cx="0" cy="0"/>
          <a:chOff x="0" y="0"/>
          <a:chExt cx="0" cy="0"/>
        </a:xfrm>
      </p:grpSpPr>
      <p:sp>
        <p:nvSpPr>
          <p:cNvPr id="303" name="Google Shape;303;p24"/>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Discussion — results at a glance, and where this goes</a:t>
            </a:r>
            <a:endParaRPr b="0" i="0" sz="3000" u="none" cap="none" strike="noStrike">
              <a:solidFill>
                <a:schemeClr val="dk1"/>
              </a:solidFill>
              <a:latin typeface="Calibri"/>
              <a:ea typeface="Calibri"/>
              <a:cs typeface="Calibri"/>
              <a:sym typeface="Calibri"/>
            </a:endParaRPr>
          </a:p>
        </p:txBody>
      </p:sp>
      <p:sp>
        <p:nvSpPr>
          <p:cNvPr id="304" name="Google Shape;304;p24"/>
          <p:cNvSpPr/>
          <p:nvPr/>
        </p:nvSpPr>
        <p:spPr>
          <a:xfrm>
            <a:off x="548650" y="1307600"/>
            <a:ext cx="10707600" cy="4281900"/>
          </a:xfrm>
          <a:prstGeom prst="roundRect">
            <a:avLst>
              <a:gd fmla="val 2111" name="adj"/>
            </a:avLst>
          </a:prstGeom>
          <a:solidFill>
            <a:srgbClr val="FFFFFF"/>
          </a:solidFill>
          <a:ln cap="flat" cmpd="sng" w="12700">
            <a:solidFill>
              <a:srgbClr val="BBBBBB"/>
            </a:solidFill>
            <a:prstDash val="solid"/>
            <a:round/>
            <a:headEnd len="sm" w="sm" type="none"/>
            <a:tailEnd len="sm" w="sm" type="none"/>
          </a:ln>
          <a:effectLst>
            <a:outerShdw blurRad="88900" rotWithShape="0" algn="bl" dir="5400000" dist="25400">
              <a:srgbClr val="000000">
                <a:alpha val="18039"/>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4"/>
          <p:cNvSpPr/>
          <p:nvPr/>
        </p:nvSpPr>
        <p:spPr>
          <a:xfrm>
            <a:off x="640075" y="5812850"/>
            <a:ext cx="10927200" cy="359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Future directions:   </a:t>
            </a:r>
            <a:r>
              <a:rPr b="0" i="0" lang="en-US" sz="1500" u="none" cap="none" strike="noStrike">
                <a:solidFill>
                  <a:srgbClr val="3A3A3A"/>
                </a:solidFill>
                <a:latin typeface="Arial"/>
                <a:ea typeface="Arial"/>
                <a:cs typeface="Arial"/>
                <a:sym typeface="Arial"/>
              </a:rPr>
              <a:t>(1) non-steady-state extensions coupling adaptive smoothing with dynamical EM;  (2) eCLIP-informed priors to sharpen RBP-network edges;  (3) spatial transcriptomics — stability gradients across tumour–immune interfaces.</a:t>
            </a:r>
            <a:endParaRPr b="0" i="0" sz="1500" u="none" cap="none" strike="noStrike">
              <a:solidFill>
                <a:schemeClr val="dk1"/>
              </a:solidFill>
              <a:latin typeface="Calibri"/>
              <a:ea typeface="Calibri"/>
              <a:cs typeface="Calibri"/>
              <a:sym typeface="Calibri"/>
            </a:endParaRPr>
          </a:p>
        </p:txBody>
      </p:sp>
      <p:pic>
        <p:nvPicPr>
          <p:cNvPr id="306" name="Google Shape;306;p24"/>
          <p:cNvPicPr preferRelativeResize="0"/>
          <p:nvPr/>
        </p:nvPicPr>
        <p:blipFill>
          <a:blip r:embed="rId3">
            <a:alphaModFix/>
          </a:blip>
          <a:stretch>
            <a:fillRect/>
          </a:stretch>
        </p:blipFill>
        <p:spPr>
          <a:xfrm>
            <a:off x="664938" y="1364275"/>
            <a:ext cx="10475023" cy="4168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25"/>
          <p:cNvSpPr/>
          <p:nvPr/>
        </p:nvSpPr>
        <p:spPr>
          <a:xfrm>
            <a:off x="548640" y="457200"/>
            <a:ext cx="110642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11111"/>
              </a:buClr>
              <a:buSzPts val="3000"/>
              <a:buFont typeface="Arial"/>
              <a:buNone/>
            </a:pPr>
            <a:r>
              <a:rPr b="1" i="0" lang="en-US" sz="3000" u="none" cap="none" strike="noStrike">
                <a:solidFill>
                  <a:srgbClr val="111111"/>
                </a:solidFill>
                <a:latin typeface="Arial"/>
                <a:ea typeface="Arial"/>
                <a:cs typeface="Arial"/>
                <a:sym typeface="Arial"/>
              </a:rPr>
              <a:t>Degradation is now a measurable single-cell axis</a:t>
            </a:r>
            <a:endParaRPr b="0" i="0" sz="3000" u="none" cap="none" strike="noStrike">
              <a:solidFill>
                <a:schemeClr val="dk1"/>
              </a:solidFill>
              <a:latin typeface="Calibri"/>
              <a:ea typeface="Calibri"/>
              <a:cs typeface="Calibri"/>
              <a:sym typeface="Calibri"/>
            </a:endParaRPr>
          </a:p>
        </p:txBody>
      </p:sp>
      <p:sp>
        <p:nvSpPr>
          <p:cNvPr id="313" name="Google Shape;313;p25"/>
          <p:cNvSpPr/>
          <p:nvPr/>
        </p:nvSpPr>
        <p:spPr>
          <a:xfrm>
            <a:off x="640080" y="1837944"/>
            <a:ext cx="237744" cy="237744"/>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5"/>
          <p:cNvSpPr/>
          <p:nvPr/>
        </p:nvSpPr>
        <p:spPr>
          <a:xfrm>
            <a:off x="1143000" y="1737360"/>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A biophysically-grounded, CPU-cheap per-cell γ estimator</a:t>
            </a:r>
            <a:endParaRPr b="0" i="0" sz="1700" u="none" cap="none" strike="noStrike">
              <a:solidFill>
                <a:schemeClr val="dk1"/>
              </a:solidFill>
              <a:latin typeface="Calibri"/>
              <a:ea typeface="Calibri"/>
              <a:cs typeface="Calibri"/>
              <a:sym typeface="Calibri"/>
            </a:endParaRPr>
          </a:p>
        </p:txBody>
      </p:sp>
      <p:sp>
        <p:nvSpPr>
          <p:cNvPr id="315" name="Google Shape;315;p25"/>
          <p:cNvSpPr/>
          <p:nvPr/>
        </p:nvSpPr>
        <p:spPr>
          <a:xfrm>
            <a:off x="640080" y="2368296"/>
            <a:ext cx="237744" cy="237744"/>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5"/>
          <p:cNvSpPr/>
          <p:nvPr/>
        </p:nvSpPr>
        <p:spPr>
          <a:xfrm>
            <a:off x="1143000" y="2267712"/>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Dominates scVelo / velVI / UniTVelo on every half-life benchmark (ρ = −0.81)</a:t>
            </a:r>
            <a:endParaRPr b="0" i="0" sz="1700" u="none" cap="none" strike="noStrike">
              <a:solidFill>
                <a:schemeClr val="dk1"/>
              </a:solidFill>
              <a:latin typeface="Calibri"/>
              <a:ea typeface="Calibri"/>
              <a:cs typeface="Calibri"/>
              <a:sym typeface="Calibri"/>
            </a:endParaRPr>
          </a:p>
        </p:txBody>
      </p:sp>
      <p:sp>
        <p:nvSpPr>
          <p:cNvPr id="317" name="Google Shape;317;p25"/>
          <p:cNvSpPr/>
          <p:nvPr/>
        </p:nvSpPr>
        <p:spPr>
          <a:xfrm>
            <a:off x="640080" y="2898648"/>
            <a:ext cx="237744" cy="237744"/>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25"/>
          <p:cNvSpPr/>
          <p:nvPr/>
        </p:nvSpPr>
        <p:spPr>
          <a:xfrm>
            <a:off x="1143000" y="2798064"/>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Unlocks hidden PT states, temporal precedence, and cancer RBP rewiring</a:t>
            </a:r>
            <a:endParaRPr b="0" i="0" sz="1700" u="none" cap="none" strike="noStrike">
              <a:solidFill>
                <a:schemeClr val="dk1"/>
              </a:solidFill>
              <a:latin typeface="Calibri"/>
              <a:ea typeface="Calibri"/>
              <a:cs typeface="Calibri"/>
              <a:sym typeface="Calibri"/>
            </a:endParaRPr>
          </a:p>
        </p:txBody>
      </p:sp>
      <p:sp>
        <p:nvSpPr>
          <p:cNvPr id="319" name="Google Shape;319;p25"/>
          <p:cNvSpPr/>
          <p:nvPr/>
        </p:nvSpPr>
        <p:spPr>
          <a:xfrm>
            <a:off x="640080" y="3429000"/>
            <a:ext cx="237744" cy="237744"/>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25"/>
          <p:cNvSpPr/>
          <p:nvPr/>
        </p:nvSpPr>
        <p:spPr>
          <a:xfrm>
            <a:off x="1143000" y="3328416"/>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DeepPTR adds a generative model with an identifiable degradation latent</a:t>
            </a:r>
            <a:endParaRPr b="0" i="0" sz="1700" u="none" cap="none" strike="noStrike">
              <a:solidFill>
                <a:schemeClr val="dk1"/>
              </a:solidFill>
              <a:latin typeface="Calibri"/>
              <a:ea typeface="Calibri"/>
              <a:cs typeface="Calibri"/>
              <a:sym typeface="Calibri"/>
            </a:endParaRPr>
          </a:p>
        </p:txBody>
      </p:sp>
      <p:sp>
        <p:nvSpPr>
          <p:cNvPr id="321" name="Google Shape;321;p25"/>
          <p:cNvSpPr/>
          <p:nvPr/>
        </p:nvSpPr>
        <p:spPr>
          <a:xfrm>
            <a:off x="640080" y="3959352"/>
            <a:ext cx="237744" cy="237744"/>
          </a:xfrm>
          <a:prstGeom prst="ellipse">
            <a:avLst/>
          </a:prstGeom>
          <a:solidFill>
            <a:srgbClr val="00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25"/>
          <p:cNvSpPr/>
          <p:nvPr/>
        </p:nvSpPr>
        <p:spPr>
          <a:xfrm>
            <a:off x="1143000" y="3858768"/>
            <a:ext cx="10424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11111"/>
              </a:buClr>
              <a:buSzPts val="1700"/>
              <a:buFont typeface="Arial"/>
              <a:buNone/>
            </a:pPr>
            <a:r>
              <a:rPr b="0" i="0" lang="en-US" sz="1700" u="none" cap="none" strike="noStrike">
                <a:solidFill>
                  <a:srgbClr val="111111"/>
                </a:solidFill>
                <a:latin typeface="Arial"/>
                <a:ea typeface="Arial"/>
                <a:cs typeface="Arial"/>
                <a:sym typeface="Arial"/>
              </a:rPr>
              <a:t>Open-source, pip-installable, scanpy/anndata-compatible (scptr.pp / scptr.tl API)</a:t>
            </a:r>
            <a:endParaRPr b="0" i="0" sz="1700" u="none" cap="none" strike="noStrike">
              <a:solidFill>
                <a:schemeClr val="dk1"/>
              </a:solidFill>
              <a:latin typeface="Calibri"/>
              <a:ea typeface="Calibri"/>
              <a:cs typeface="Calibri"/>
              <a:sym typeface="Calibri"/>
            </a:endParaRPr>
          </a:p>
        </p:txBody>
      </p:sp>
      <p:sp>
        <p:nvSpPr>
          <p:cNvPr id="323" name="Google Shape;323;p25"/>
          <p:cNvSpPr/>
          <p:nvPr/>
        </p:nvSpPr>
        <p:spPr>
          <a:xfrm>
            <a:off x="658368" y="4526280"/>
            <a:ext cx="1060704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50"/>
              <a:buFont typeface="Arial"/>
              <a:buNone/>
            </a:pPr>
            <a:r>
              <a:rPr b="1" i="0" lang="en-US" sz="1450" u="none" cap="none" strike="noStrike">
                <a:solidFill>
                  <a:srgbClr val="000000"/>
                </a:solidFill>
                <a:latin typeface="Arial"/>
                <a:ea typeface="Arial"/>
                <a:cs typeface="Arial"/>
                <a:sym typeface="Arial"/>
              </a:rPr>
              <a:t>Code, data &amp; reproducibility notebooks:  </a:t>
            </a:r>
            <a:r>
              <a:rPr b="0" i="0" lang="en-US" sz="1450" u="none" cap="none" strike="noStrike">
                <a:solidFill>
                  <a:srgbClr val="111111"/>
                </a:solidFill>
                <a:latin typeface="Arial"/>
                <a:ea typeface="Arial"/>
                <a:cs typeface="Arial"/>
                <a:sym typeface="Arial"/>
              </a:rPr>
              <a:t>huggingface.co/bryan7264/scPTR</a:t>
            </a:r>
            <a:endParaRPr b="0" i="0" sz="1450" u="none" cap="none" strike="noStrike">
              <a:solidFill>
                <a:schemeClr val="dk1"/>
              </a:solidFill>
              <a:latin typeface="Calibri"/>
              <a:ea typeface="Calibri"/>
              <a:cs typeface="Calibri"/>
              <a:sym typeface="Calibri"/>
            </a:endParaRPr>
          </a:p>
        </p:txBody>
      </p:sp>
      <p:sp>
        <p:nvSpPr>
          <p:cNvPr id="324" name="Google Shape;324;p25"/>
          <p:cNvSpPr/>
          <p:nvPr/>
        </p:nvSpPr>
        <p:spPr>
          <a:xfrm>
            <a:off x="640080" y="5029200"/>
            <a:ext cx="10881360" cy="1051560"/>
          </a:xfrm>
          <a:prstGeom prst="roundRect">
            <a:avLst>
              <a:gd fmla="val 7826" name="adj"/>
            </a:avLst>
          </a:prstGeom>
          <a:solidFill>
            <a:srgbClr val="F2F2F2"/>
          </a:solidFill>
          <a:ln cap="flat" cmpd="sng" w="12700">
            <a:solidFill>
              <a:srgbClr val="BBBBB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25"/>
          <p:cNvSpPr/>
          <p:nvPr/>
        </p:nvSpPr>
        <p:spPr>
          <a:xfrm>
            <a:off x="914400" y="5166360"/>
            <a:ext cx="10332720" cy="822960"/>
          </a:xfrm>
          <a:prstGeom prst="rect">
            <a:avLst/>
          </a:prstGeom>
          <a:noFill/>
          <a:ln>
            <a:noFill/>
          </a:ln>
        </p:spPr>
        <p:txBody>
          <a:bodyPr anchorCtr="0" anchor="ctr" bIns="0" lIns="0" spcFirstLastPara="1" rIns="0" wrap="square" tIns="0">
            <a:noAutofit/>
          </a:bodyPr>
          <a:lstStyle/>
          <a:p>
            <a:pPr indent="0" lvl="0" marL="0" marR="0" rtl="0" algn="l">
              <a:lnSpc>
                <a:spcPct val="105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Limitations:  </a:t>
            </a:r>
            <a:r>
              <a:rPr lang="en-US">
                <a:solidFill>
                  <a:srgbClr val="3A3A3A"/>
                </a:solidFill>
              </a:rPr>
              <a:t>steady-state assumption biases fast transitions (~10% in simulations) · sparse chemistries (10x v2) underdetermine rare states — use 10x v3 / higher-depth · residual library-size confounding in RBP inference · cell-cycle bursts violate steady-state (masked, not modeled). </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invisible_states_pancreas.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Silhouette of γ-space labels in both spaces. 5/8 pancreatic cell types show stronger γ-space than expression-space substructure.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invisible_states_dentate.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6/11 hippocampal cell types show γ-space substructure invisible or reduced in expression space.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invisible_epsilon.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Epsilon cells (n=142): one blob in expression (silhouette −0.042), cleanly split in γ-space (silhouette 0.276).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permutation_control.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Permutation control: shuffling u/s pairs within each gene before estimation yields ARI ≈ 0, ruling out smoothing artefacts.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gamma_leads_expression.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γ leads expression at fate transitions: 63% of pancreatic genes (p=5.3×10⁻⁶), 78% of dentate gyrus genes (p=9.9×10⁻¹³).</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pt_velocity_orthogonality.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PT velocity approximately orthogonal to RNA velocity (mean cosine = −0.056), confirming independent information axes.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library_size_correction.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Library-size correction removes depth confound: 98.9% → 33.7% destabilising in neuroblastoma, revealing 66.3% stabilising landscape.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fig_depmap_essentials.png"/>
          <p:cNvPicPr>
            <a:picLocks noChangeAspect="1"/>
          </p:cNvPicPr>
          <p:nvPr/>
        </p:nvPicPr>
        <p:blipFill>
          <a:blip r:embed="rId2"/>
          <a:stretch>
            <a:fillRect/>
          </a:stretch>
        </p:blipFill>
        <p:spPr>
          <a:xfrm>
            <a:off x="914400" y="205740"/>
            <a:ext cx="10363200" cy="5932170"/>
          </a:xfrm>
          <a:prstGeom prst="rect">
            <a:avLst/>
          </a:prstGeom>
        </p:spPr>
      </p:pic>
      <p:sp>
        <p:nvSpPr>
          <p:cNvPr id="3" name="TextBox 2"/>
          <p:cNvSpPr txBox="1"/>
          <p:nvPr/>
        </p:nvSpPr>
        <p:spPr>
          <a:xfrm>
            <a:off x="609600" y="6206490"/>
            <a:ext cx="10972800" cy="548640"/>
          </a:xfrm>
          <a:prstGeom prst="rect">
            <a:avLst/>
          </a:prstGeom>
          <a:noFill/>
        </p:spPr>
        <p:txBody>
          <a:bodyPr wrap="square">
            <a:spAutoFit/>
          </a:bodyPr>
          <a:lstStyle/>
          <a:p>
            <a:pPr algn="ctr"/>
            <a:r>
              <a:rPr sz="1300">
                <a:solidFill>
                  <a:srgbClr val="444444"/>
                </a:solidFill>
              </a:rPr>
              <a:t>Hub RBPs identified by scPTR are significantly more essential in DepMap CRISPR screens (p=6.4×10⁻⁵).</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