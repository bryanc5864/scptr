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3" r:id="rId12"/>
    <p:sldId id="264" r:id="rId13"/>
    <p:sldId id="266" r:id="rId15"/>
    <p:sldId id="267" r:id="rId16"/>
    <p:sldId id="268" r:id="rId17"/>
    <p:sldId id="269" r:id="rId18"/>
    <p:sldId id="279" r:id="rId28"/>
    <p:sldId id="280" r:id="rId29"/>
    <p:sldId id="281" r:id="rId30"/>
    <p:sldId id="282" r:id="rId31"/>
    <p:sldId id="272" r:id="rId21"/>
    <p:sldId id="284" r:id="rId33"/>
    <p:sldId id="273" r:id="rId22"/>
    <p:sldId id="286" r:id="rId35"/>
    <p:sldId id="274" r:id="rId23"/>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3" Type="http://schemas.openxmlformats.org/officeDocument/2006/relationships/slide" Target="slides/slide18.xml"/><Relationship Id="rId3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5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0.276 in γ-space vs −0.042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Silhouette of γ-space labels in both spaces. 5/8 pancreatic cell types show stronger γ-space than expression-space substructure.</a:t>
            </a:r>
          </a:p>
        </p:txBody>
      </p:sp>
      <p:sp>
        <p:nvSpPr>
          <p:cNvPr id="4" name="FigBg_4"/>
          <p:cNvSpPr>
            <a:spLocks noGrp="1"/>
          </p:cNvSpPr>
          <p:nvPr/>
        </p:nvSpPr>
        <p:spPr>
          <a:xfrm>
            <a:off x="365760" y="1289505"/>
            <a:ext cx="11460480" cy="441614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426665"/>
            <a:ext cx="11186160" cy="414182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6/11 hippocampal cell types show γ-space substructure invisible or reduced in expression space.</a:t>
            </a:r>
          </a:p>
        </p:txBody>
      </p:sp>
      <p:sp>
        <p:nvSpPr>
          <p:cNvPr id="4" name="FigBg_4"/>
          <p:cNvSpPr>
            <a:spLocks noGrp="1"/>
          </p:cNvSpPr>
          <p:nvPr/>
        </p:nvSpPr>
        <p:spPr>
          <a:xfrm>
            <a:off x="365760" y="1146520"/>
            <a:ext cx="11460480" cy="470211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283680"/>
            <a:ext cx="11186160" cy="442779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Epsilon cells (n=142): one blob in expression (silhouette −0.042), cleanly split in γ-space (silhouette 0.276).</a:t>
            </a:r>
          </a:p>
        </p:txBody>
      </p:sp>
      <p:sp>
        <p:nvSpPr>
          <p:cNvPr id="4" name="FigBg_4"/>
          <p:cNvSpPr>
            <a:spLocks noGrp="1"/>
          </p:cNvSpPr>
          <p:nvPr/>
        </p:nvSpPr>
        <p:spPr>
          <a:xfrm>
            <a:off x="365760" y="1544420"/>
            <a:ext cx="11460480" cy="390632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681580"/>
            <a:ext cx="11186160" cy="363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Permutation control: shuffling u/s pairs within each gene before estimation yields ARI ≈ 0, ruling out smoothing artefacts.</a:t>
            </a:r>
          </a:p>
        </p:txBody>
      </p:sp>
      <p:sp>
        <p:nvSpPr>
          <p:cNvPr id="4" name="FigBg_4"/>
          <p:cNvSpPr/>
          <p:nvPr/>
        </p:nvSpPr>
        <p:spPr>
          <a:xfrm>
            <a:off x="365760" y="1040214"/>
            <a:ext cx="11460480" cy="4914732"/>
          </a:xfrm>
          <a:prstGeom prst="roundRect">
            <a:avLst/>
          </a:prstGeom>
          <a:solidFill>
            <a:srgbClr val="FFFFFF"/>
          </a:solidFill>
          <a:ln w="0">
            <a:noFill/>
          </a:ln>
        </p:spPr>
        <p:txBody>
          <a:bodyPr/>
          <a:lstStyle/>
          <a:p/>
        </p:txBody>
      </p:sp>
      <p:pic>
        <p:nvPicPr>
          <p:cNvPr id="5" name="Picture 4" descr="fig_expression_vs_gamma_recovery.png"/>
          <p:cNvPicPr>
            <a:picLocks noChangeAspect="1"/>
          </p:cNvPicPr>
          <p:nvPr/>
        </p:nvPicPr>
        <p:blipFill>
          <a:blip r:embed="rId3"/>
          <a:stretch>
            <a:fillRect/>
          </a:stretch>
        </p:blipFill>
        <p:spPr>
          <a:xfrm>
            <a:off x="502920" y="1177374"/>
            <a:ext cx="11186160" cy="46404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−0.06):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63% of pancreas (p=5.3×10⁻⁶),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sp>
        <p:nvSpPr>
          <p:cNvPr id="223" name="FigBg_223"/>
          <p:cNvSpPr>
            <a:spLocks noGrp="1"/>
          </p:cNvSpPr>
          <p:nvPr/>
        </p:nvSpPr>
        <p:spPr>
          <a:xfrm>
            <a:off x="816984" y="914400"/>
            <a:ext cx="10558031" cy="5166360"/>
          </a:xfrm>
          <a:prstGeom prst="roundRect">
            <a:avLst/>
          </a:prstGeom>
          <a:solidFill>
            <a:srgbClr val="FFFFFF"/>
          </a:solidFill>
          <a:ln w="0">
            <a:noFill/>
          </a:ln>
        </p:spPr>
        <p:txBody>
          <a:bodyPr/>
          <a:lstStyle/>
          <a:p/>
        </p:txBody>
      </p:sp>
      <p:pic>
        <p:nvPicPr>
          <p:cNvPr id="224" name="Picture 223" descr="image.png"/>
          <p:cNvPicPr>
            <a:picLocks noChangeAspect="1"/>
          </p:cNvPicPr>
          <p:nvPr/>
        </p:nvPicPr>
        <p:blipFill>
          <a:blip r:embed="rId4"/>
          <a:stretch>
            <a:fillRect/>
          </a:stretch>
        </p:blipFill>
        <p:spPr>
          <a:xfrm>
            <a:off x="954144" y="1051560"/>
            <a:ext cx="10283711" cy="48920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PT velocity approximately orthogonal to RNA velocity (mean cosine = −0.056), confirming independent information axes.</a:t>
            </a:r>
          </a:p>
        </p:txBody>
      </p:sp>
      <p:sp>
        <p:nvSpPr>
          <p:cNvPr id="4" name="FigBg_4"/>
          <p:cNvSpPr>
            <a:spLocks noGrp="1"/>
          </p:cNvSpPr>
          <p:nvPr/>
        </p:nvSpPr>
        <p:spPr>
          <a:xfrm>
            <a:off x="780157" y="914400"/>
            <a:ext cx="10631685"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917317" y="1051560"/>
            <a:ext cx="10357365" cy="48920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98.9%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Hub RBPs identified by scPTR are significantly more essential in DepMap CRISPR screens (p=6.4×10⁻⁵).</a:t>
            </a:r>
          </a:p>
        </p:txBody>
      </p:sp>
      <p:sp>
        <p:nvSpPr>
          <p:cNvPr id="4" name="FigBg_4"/>
          <p:cNvSpPr>
            <a:spLocks noGrp="1"/>
          </p:cNvSpPr>
          <p:nvPr/>
        </p:nvSpPr>
        <p:spPr>
          <a:xfrm>
            <a:off x="382523" y="914400"/>
            <a:ext cx="1142695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19683" y="1051560"/>
            <a:ext cx="11152634" cy="48920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pic>
        <p:nvPicPr>
          <p:cNvPr id="306" name="Picture 305" descr="fig_discussion_summary.png"/>
          <p:cNvPicPr>
            <a:picLocks noChangeAspect="1"/>
          </p:cNvPicPr>
          <p:nvPr/>
        </p:nvPicPr>
        <p:blipFill>
          <a:blip r:embed="rId5"/>
          <a:stretch>
            <a:fillRect/>
          </a:stretch>
        </p:blipFill>
        <p:spPr>
          <a:xfrm>
            <a:off x="320040" y="861098"/>
            <a:ext cx="11551920" cy="513580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